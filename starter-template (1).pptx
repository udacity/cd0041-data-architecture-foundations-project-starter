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9"/>
  </p:notesMasterIdLst>
  <p:sldIdLst>
    <p:sldId id="256" r:id="rId5"/>
    <p:sldId id="257" r:id="rId6"/>
    <p:sldId id="258" r:id="rId7"/>
    <p:sldId id="259" r:id="rId8"/>
    <p:sldId id="260" r:id="rId9"/>
    <p:sldId id="261" r:id="rId10"/>
    <p:sldId id="262" r:id="rId11"/>
    <p:sldId id="263" r:id="rId12"/>
    <p:sldId id="265" r:id="rId13"/>
    <p:sldId id="266" r:id="rId14"/>
    <p:sldId id="267" r:id="rId15"/>
    <p:sldId id="268" r:id="rId16"/>
    <p:sldId id="269" r:id="rId17"/>
    <p:sldId id="287" r:id="rId18"/>
    <p:sldId id="271" r:id="rId19"/>
    <p:sldId id="289" r:id="rId20"/>
    <p:sldId id="290" r:id="rId21"/>
    <p:sldId id="291" r:id="rId22"/>
    <p:sldId id="270" r:id="rId23"/>
    <p:sldId id="288" r:id="rId24"/>
    <p:sldId id="272" r:id="rId25"/>
    <p:sldId id="273" r:id="rId26"/>
    <p:sldId id="280" r:id="rId27"/>
    <p:sldId id="281" r:id="rId28"/>
  </p:sldIdLst>
  <p:sldSz cx="7772400" cy="10058400"/>
  <p:notesSz cx="6858000" cy="9144000"/>
  <p:embeddedFontLst>
    <p:embeddedFont>
      <p:font typeface="Helvetica Neue" panose="020B0604020202020204" charset="0"/>
      <p:regular r:id="rId30"/>
      <p:bold r:id="rId31"/>
      <p:italic r:id="rId32"/>
      <p:boldItalic r:id="rId33"/>
    </p:embeddedFont>
    <p:embeddedFont>
      <p:font typeface="Open Sans" panose="020B0606030504020204" pitchFamily="34" charset="0"/>
      <p:regular r:id="rId34"/>
      <p:bold r:id="rId35"/>
      <p:italic r:id="rId36"/>
      <p:boldItalic r:id="rId37"/>
    </p:embeddedFont>
    <p:embeddedFont>
      <p:font typeface="Open Sans Light" panose="020B030603050402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30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0.fntdata"/><Relationship Id="rId21" Type="http://schemas.openxmlformats.org/officeDocument/2006/relationships/slide" Target="slides/slide17.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bbfcd4c3a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bbfcd4c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d8c850c25_0_38: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d8c850c2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8d8c850c25_0_86: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8d8c850c2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8d8c850c25_0_5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8d8c850c2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8d8c850c25_0_6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8d8c850c2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8d8c850c25_0_7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8d8c850c2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d8c850c25_0_9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d8c850c25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8d8c850c25_0_9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8d8c850c2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d8c850c25_0_10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d8c850c2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a:extLst>
            <a:ext uri="{FF2B5EF4-FFF2-40B4-BE49-F238E27FC236}">
              <a16:creationId xmlns:a16="http://schemas.microsoft.com/office/drawing/2014/main" id="{118179CB-0F4B-B090-AFAA-C0229D6C51BC}"/>
            </a:ext>
          </a:extLst>
        </p:cNvPr>
        <p:cNvGrpSpPr/>
        <p:nvPr/>
      </p:nvGrpSpPr>
      <p:grpSpPr>
        <a:xfrm>
          <a:off x="0" y="0"/>
          <a:ext cx="0" cy="0"/>
          <a:chOff x="0" y="0"/>
          <a:chExt cx="0" cy="0"/>
        </a:xfrm>
      </p:grpSpPr>
      <p:sp>
        <p:nvSpPr>
          <p:cNvPr id="266" name="Google Shape;266;g64b864f3db_0_1:notes">
            <a:extLst>
              <a:ext uri="{FF2B5EF4-FFF2-40B4-BE49-F238E27FC236}">
                <a16:creationId xmlns:a16="http://schemas.microsoft.com/office/drawing/2014/main" id="{D19177B2-5497-0DD2-10E0-36B36BA14B32}"/>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64b864f3db_0_1:notes">
            <a:extLst>
              <a:ext uri="{FF2B5EF4-FFF2-40B4-BE49-F238E27FC236}">
                <a16:creationId xmlns:a16="http://schemas.microsoft.com/office/drawing/2014/main" id="{FB0DA71B-6CDD-6B7F-9342-AA1564750CD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7083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8d8c850c25_0_12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E19835C-DC84-C949-A646-F031CFD7AC68}"/>
            </a:ext>
          </a:extLst>
        </p:cNvPr>
        <p:cNvGrpSpPr/>
        <p:nvPr/>
      </p:nvGrpSpPr>
      <p:grpSpPr>
        <a:xfrm>
          <a:off x="0" y="0"/>
          <a:ext cx="0" cy="0"/>
          <a:chOff x="0" y="0"/>
          <a:chExt cx="0" cy="0"/>
        </a:xfrm>
      </p:grpSpPr>
      <p:sp>
        <p:nvSpPr>
          <p:cNvPr id="272" name="Google Shape;272;g8d8c850c25_0_124:notes">
            <a:extLst>
              <a:ext uri="{FF2B5EF4-FFF2-40B4-BE49-F238E27FC236}">
                <a16:creationId xmlns:a16="http://schemas.microsoft.com/office/drawing/2014/main" id="{651D1E48-2804-12A6-9B00-BD115564C63B}"/>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a:extLst>
              <a:ext uri="{FF2B5EF4-FFF2-40B4-BE49-F238E27FC236}">
                <a16:creationId xmlns:a16="http://schemas.microsoft.com/office/drawing/2014/main" id="{B5ACDC92-60BD-C232-2B35-7F5B7B479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8621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8658DCB-24CF-8181-69D4-420B7F7020CB}"/>
            </a:ext>
          </a:extLst>
        </p:cNvPr>
        <p:cNvGrpSpPr/>
        <p:nvPr/>
      </p:nvGrpSpPr>
      <p:grpSpPr>
        <a:xfrm>
          <a:off x="0" y="0"/>
          <a:ext cx="0" cy="0"/>
          <a:chOff x="0" y="0"/>
          <a:chExt cx="0" cy="0"/>
        </a:xfrm>
      </p:grpSpPr>
      <p:sp>
        <p:nvSpPr>
          <p:cNvPr id="272" name="Google Shape;272;g8d8c850c25_0_124:notes">
            <a:extLst>
              <a:ext uri="{FF2B5EF4-FFF2-40B4-BE49-F238E27FC236}">
                <a16:creationId xmlns:a16="http://schemas.microsoft.com/office/drawing/2014/main" id="{16E81FD5-6453-3D28-D76F-A4AC2C47BEDA}"/>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a:extLst>
              <a:ext uri="{FF2B5EF4-FFF2-40B4-BE49-F238E27FC236}">
                <a16:creationId xmlns:a16="http://schemas.microsoft.com/office/drawing/2014/main" id="{D50CBCB8-C3DD-A0FA-9506-BA6ED02CBF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2005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1F765AA-390D-A1CA-B730-A8934930A6D3}"/>
            </a:ext>
          </a:extLst>
        </p:cNvPr>
        <p:cNvGrpSpPr/>
        <p:nvPr/>
      </p:nvGrpSpPr>
      <p:grpSpPr>
        <a:xfrm>
          <a:off x="0" y="0"/>
          <a:ext cx="0" cy="0"/>
          <a:chOff x="0" y="0"/>
          <a:chExt cx="0" cy="0"/>
        </a:xfrm>
      </p:grpSpPr>
      <p:sp>
        <p:nvSpPr>
          <p:cNvPr id="272" name="Google Shape;272;g8d8c850c25_0_124:notes">
            <a:extLst>
              <a:ext uri="{FF2B5EF4-FFF2-40B4-BE49-F238E27FC236}">
                <a16:creationId xmlns:a16="http://schemas.microsoft.com/office/drawing/2014/main" id="{EAB38AF0-88E4-4D53-0A7A-0D31733F75D3}"/>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a:extLst>
              <a:ext uri="{FF2B5EF4-FFF2-40B4-BE49-F238E27FC236}">
                <a16:creationId xmlns:a16="http://schemas.microsoft.com/office/drawing/2014/main" id="{CADC2CFA-91F4-798C-707D-B7F9721375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1177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64b864f3db_0_1: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41A0ABC-401B-C28D-20E6-EEC6EDCD219E}"/>
            </a:ext>
          </a:extLst>
        </p:cNvPr>
        <p:cNvGrpSpPr/>
        <p:nvPr/>
      </p:nvGrpSpPr>
      <p:grpSpPr>
        <a:xfrm>
          <a:off x="0" y="0"/>
          <a:ext cx="0" cy="0"/>
          <a:chOff x="0" y="0"/>
          <a:chExt cx="0" cy="0"/>
        </a:xfrm>
      </p:grpSpPr>
      <p:sp>
        <p:nvSpPr>
          <p:cNvPr id="272" name="Google Shape;272;g8d8c850c25_0_124:notes">
            <a:extLst>
              <a:ext uri="{FF2B5EF4-FFF2-40B4-BE49-F238E27FC236}">
                <a16:creationId xmlns:a16="http://schemas.microsoft.com/office/drawing/2014/main" id="{02F26A32-2E39-3E39-AC5F-3EBADB7D1711}"/>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a:extLst>
              <a:ext uri="{FF2B5EF4-FFF2-40B4-BE49-F238E27FC236}">
                <a16:creationId xmlns:a16="http://schemas.microsoft.com/office/drawing/2014/main" id="{CC1F8A09-10AE-3D53-6C33-94E2998743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06156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8d8c850c25_0_11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8d8c850c2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8d8c850c25_0_11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8d8c850c2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8c28c705c4_0_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g8c28c705c4_0_7: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8c28c705c4_0_17: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8c28c705c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4SgnE_0wNpuPdF5ss94GGqIBfcxLnpIF/view" TargetMode="External"/><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hyperlink" Target="https://drive.google.com/file/d/1YdBZPpaIQvnD9NbgkeLMb5PeFtnhGGRP/view?usp=sharin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YdBZPpaIQvnD9NbgkeLMb5PeFtnhGGRP/view?usp=sharing" TargetMode="External"/><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hyperlink" Target="https://drive.google.com/file/d/14SgnE_0wNpuPdF5ss94GGqIBfcxLnpIF/view" TargetMode="External"/><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049275" y="8353850"/>
            <a:ext cx="1375200" cy="1375200"/>
          </a:xfrm>
          <a:prstGeom prst="rect">
            <a:avLst/>
          </a:prstGeom>
          <a:noFill/>
          <a:ln>
            <a:noFill/>
          </a:ln>
        </p:spPr>
      </p:pic>
      <p:pic>
        <p:nvPicPr>
          <p:cNvPr id="178" name="Google Shape;178;p51"/>
          <p:cNvPicPr preferRelativeResize="0"/>
          <p:nvPr/>
        </p:nvPicPr>
        <p:blipFill>
          <a:blip r:embed="rId4">
            <a:alphaModFix/>
          </a:blip>
          <a:stretch>
            <a:fillRect/>
          </a:stretch>
        </p:blipFill>
        <p:spPr>
          <a:xfrm>
            <a:off x="1146225" y="2111300"/>
            <a:ext cx="5479925" cy="5479925"/>
          </a:xfrm>
          <a:prstGeom prst="rect">
            <a:avLst/>
          </a:prstGeom>
          <a:noFill/>
          <a:ln>
            <a:noFill/>
          </a:ln>
        </p:spPr>
      </p:pic>
      <p:sp>
        <p:nvSpPr>
          <p:cNvPr id="179" name="Google Shape;179;p51"/>
          <p:cNvSpPr txBox="1">
            <a:spLocks noGrp="1"/>
          </p:cNvSpPr>
          <p:nvPr>
            <p:ph type="title" idx="4294967295"/>
          </p:nvPr>
        </p:nvSpPr>
        <p:spPr>
          <a:xfrm>
            <a:off x="264945" y="423371"/>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Tech ABC Corp - HR Database</a:t>
            </a:r>
            <a:endParaRPr sz="4000">
              <a:solidFill>
                <a:srgbClr val="FFFFFF"/>
              </a:solidFill>
            </a:endParaRPr>
          </a:p>
          <a:p>
            <a:pPr marL="0" lvl="0" indent="0" algn="l" rtl="0">
              <a:spcBef>
                <a:spcPts val="0"/>
              </a:spcBef>
              <a:spcAft>
                <a:spcPts val="0"/>
              </a:spcAft>
              <a:buNone/>
            </a:pPr>
            <a:endParaRPr/>
          </a:p>
        </p:txBody>
      </p:sp>
      <p:sp>
        <p:nvSpPr>
          <p:cNvPr id="180" name="Google Shape;180;p51"/>
          <p:cNvSpPr txBox="1">
            <a:spLocks noGrp="1"/>
          </p:cNvSpPr>
          <p:nvPr>
            <p:ph type="title" idx="4294967295"/>
          </p:nvPr>
        </p:nvSpPr>
        <p:spPr>
          <a:xfrm>
            <a:off x="264945" y="107454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500">
                <a:solidFill>
                  <a:srgbClr val="FFFFFF"/>
                </a:solidFill>
              </a:rPr>
              <a:t>[Student Name &amp; Date]</a:t>
            </a:r>
            <a:endParaRPr sz="2500">
              <a:solidFill>
                <a:srgbClr val="FFFFFF"/>
              </a:solidFill>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5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to use this Template</a:t>
            </a:r>
            <a:endParaRPr/>
          </a:p>
        </p:txBody>
      </p:sp>
      <p:sp>
        <p:nvSpPr>
          <p:cNvPr id="186" name="Google Shape;186;p52"/>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US" sz="2200" dirty="0"/>
              <a:t>This is to serve a handy reference when completing your project</a:t>
            </a:r>
          </a:p>
          <a:p>
            <a:pPr marL="457200" lvl="0" indent="-368300" algn="l" rtl="0">
              <a:spcBef>
                <a:spcPts val="0"/>
              </a:spcBef>
              <a:spcAft>
                <a:spcPts val="0"/>
              </a:spcAft>
              <a:buSzPts val="2200"/>
              <a:buChar char="●"/>
            </a:pPr>
            <a:r>
              <a:rPr lang="en-US" sz="2200" dirty="0"/>
              <a:t>All work should be completed in the </a:t>
            </a:r>
            <a:r>
              <a:rPr lang="en-US" sz="2200" dirty="0" err="1"/>
              <a:t>Jupyter</a:t>
            </a:r>
            <a:r>
              <a:rPr lang="en-US" sz="2200" dirty="0"/>
              <a:t> Notebook environment provided by Udacity</a:t>
            </a:r>
          </a:p>
          <a:p>
            <a:pPr marL="457200" lvl="0" indent="-368300" algn="l" rtl="0">
              <a:spcBef>
                <a:spcPts val="0"/>
              </a:spcBef>
              <a:spcAft>
                <a:spcPts val="0"/>
              </a:spcAft>
              <a:buSzPts val="2200"/>
              <a:buChar char="●"/>
            </a:pPr>
            <a:r>
              <a:rPr lang="en-US" sz="2200" dirty="0"/>
              <a:t>Keep written responses succinct. Most questions can be answer with a short list or a few sentences. Essay like answers not required.</a:t>
            </a:r>
          </a:p>
          <a:p>
            <a:pPr marL="457200" lvl="0" indent="-368300" algn="l" rtl="0">
              <a:spcBef>
                <a:spcPts val="0"/>
              </a:spcBef>
              <a:spcAft>
                <a:spcPts val="0"/>
              </a:spcAft>
              <a:buSzPts val="2200"/>
              <a:buChar char="●"/>
            </a:pPr>
            <a:r>
              <a:rPr lang="en-US" sz="2200" dirty="0"/>
              <a:t>Please reference the IT Best Practices file when answering some of the technical questions</a:t>
            </a:r>
          </a:p>
          <a:p>
            <a:pPr marL="457200" lvl="0" indent="-368300" algn="l" rtl="0">
              <a:spcBef>
                <a:spcPts val="0"/>
              </a:spcBef>
              <a:spcAft>
                <a:spcPts val="0"/>
              </a:spcAft>
              <a:buSzPts val="2200"/>
              <a:buChar char="●"/>
            </a:pPr>
            <a:endParaRPr sz="2200" dirty="0"/>
          </a:p>
          <a:p>
            <a:pPr marL="457200" lvl="0" indent="0" algn="l" rtl="0">
              <a:spcBef>
                <a:spcPts val="1600"/>
              </a:spcBef>
              <a:spcAft>
                <a:spcPts val="1600"/>
              </a:spcAft>
              <a:buNone/>
            </a:pPr>
            <a:endParaRPr sz="2200" dirty="0"/>
          </a:p>
        </p:txBody>
      </p:sp>
      <p:sp>
        <p:nvSpPr>
          <p:cNvPr id="187" name="Google Shape;187;p52"/>
          <p:cNvSpPr txBox="1"/>
          <p:nvPr/>
        </p:nvSpPr>
        <p:spPr>
          <a:xfrm>
            <a:off x="1028425" y="7749175"/>
            <a:ext cx="5652900" cy="11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a:solidFill>
                  <a:srgbClr val="FFFFFF"/>
                </a:solidFill>
                <a:latin typeface="Open Sans"/>
                <a:ea typeface="Open Sans"/>
                <a:cs typeface="Open Sans"/>
                <a:sym typeface="Open Sans"/>
              </a:rPr>
              <a:t>Remove this slide</a:t>
            </a:r>
            <a:endParaRPr sz="4500">
              <a:solidFill>
                <a:srgbClr val="FFFFFF"/>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Business Scenario</a:t>
            </a:r>
            <a:endParaRPr/>
          </a:p>
        </p:txBody>
      </p:sp>
      <p:sp>
        <p:nvSpPr>
          <p:cNvPr id="194" name="Google Shape;194;p53"/>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0" marR="241300" lvl="0" indent="0" algn="l" rtl="0">
              <a:lnSpc>
                <a:spcPct val="170000"/>
              </a:lnSpc>
              <a:spcBef>
                <a:spcPts val="0"/>
              </a:spcBef>
              <a:spcAft>
                <a:spcPts val="0"/>
              </a:spcAft>
              <a:buClr>
                <a:schemeClr val="dk1"/>
              </a:buClr>
              <a:buSzPts val="1100"/>
              <a:buFont typeface="Arial"/>
              <a:buNone/>
            </a:pPr>
            <a:r>
              <a:rPr lang="en" sz="1350" b="1">
                <a:solidFill>
                  <a:srgbClr val="2E3D49"/>
                </a:solidFill>
                <a:highlight>
                  <a:srgbClr val="FFFFFF"/>
                </a:highlight>
                <a:latin typeface="Open Sans"/>
                <a:ea typeface="Open Sans"/>
                <a:cs typeface="Open Sans"/>
                <a:sym typeface="Open Sans"/>
              </a:rPr>
              <a:t>  </a:t>
            </a:r>
            <a:r>
              <a:rPr lang="en" sz="1500" b="1">
                <a:solidFill>
                  <a:srgbClr val="2E3D49"/>
                </a:solidFill>
                <a:highlight>
                  <a:srgbClr val="FFFFFF"/>
                </a:highlight>
                <a:latin typeface="Open Sans"/>
                <a:ea typeface="Open Sans"/>
                <a:cs typeface="Open Sans"/>
                <a:sym typeface="Open Sans"/>
              </a:rPr>
              <a:t>   Business requirement</a:t>
            </a:r>
            <a:endParaRPr sz="1500" b="1">
              <a:solidFill>
                <a:srgbClr val="2E3D49"/>
              </a:solidFill>
              <a:highlight>
                <a:srgbClr val="FFFFFF"/>
              </a:highlight>
              <a:latin typeface="Open Sans"/>
              <a:ea typeface="Open Sans"/>
              <a:cs typeface="Open Sans"/>
              <a:sym typeface="Open Sans"/>
            </a:endParaRPr>
          </a:p>
          <a:p>
            <a:pPr marL="241300" marR="241300" lvl="0" indent="0" algn="l" rtl="0">
              <a:lnSpc>
                <a:spcPct val="170000"/>
              </a:lnSpc>
              <a:spcBef>
                <a:spcPts val="400"/>
              </a:spcBef>
              <a:spcAft>
                <a:spcPts val="0"/>
              </a:spcAft>
              <a:buClr>
                <a:schemeClr val="dk1"/>
              </a:buClr>
              <a:buSzPts val="1100"/>
              <a:buFont typeface="Arial"/>
              <a:buNone/>
            </a:pPr>
            <a:r>
              <a:rPr lang="en" sz="1300">
                <a:solidFill>
                  <a:srgbClr val="525C65"/>
                </a:solidFill>
                <a:highlight>
                  <a:srgbClr val="FFFFFF"/>
                </a:highlight>
                <a:latin typeface="Open Sans"/>
                <a:ea typeface="Open Sans"/>
                <a:cs typeface="Open Sans"/>
                <a:sym typeface="Open Sans"/>
              </a:rPr>
              <a:t>Tech ABC Corp saw explosive growth with a sudden appearance onto the gaming scene with their new AI-powered video game console. As a result, they have gone from a small 10 person operation to 200 employees and 5 locations in under a year. HR is having trouble keeping up with the growth, since they are still maintaining employee information in a spreadsheet. While that worked for ten employees, it has becoming increasingly cumbersome to manage as the company expands.</a:t>
            </a:r>
            <a:endParaRPr sz="130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30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a:solidFill>
                  <a:srgbClr val="525C65"/>
                </a:solidFill>
                <a:highlight>
                  <a:srgbClr val="FFFFFF"/>
                </a:highlight>
                <a:latin typeface="Open Sans"/>
                <a:ea typeface="Open Sans"/>
                <a:cs typeface="Open Sans"/>
                <a:sym typeface="Open Sans"/>
              </a:rPr>
              <a:t>As such, the HR department has tasked you, as the new data architect, to design and build a database capable of managing their employee information.</a:t>
            </a:r>
            <a:endParaRPr sz="130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20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500" b="1">
                <a:solidFill>
                  <a:srgbClr val="2E3D49"/>
                </a:solidFill>
                <a:highlight>
                  <a:srgbClr val="FFFFFF"/>
                </a:highlight>
                <a:latin typeface="Open Sans"/>
                <a:ea typeface="Open Sans"/>
                <a:cs typeface="Open Sans"/>
                <a:sym typeface="Open Sans"/>
              </a:rPr>
              <a:t>Dataset</a:t>
            </a:r>
            <a:endParaRPr sz="1500" b="1">
              <a:solidFill>
                <a:srgbClr val="2E3D49"/>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a:solidFill>
                  <a:srgbClr val="525C65"/>
                </a:solidFill>
                <a:highlight>
                  <a:srgbClr val="FFFFFF"/>
                </a:highlight>
                <a:latin typeface="Open Sans"/>
                <a:ea typeface="Open Sans"/>
                <a:cs typeface="Open Sans"/>
                <a:sym typeface="Open Sans"/>
              </a:rPr>
              <a:t>The </a:t>
            </a:r>
            <a:r>
              <a:rPr lang="en" sz="1300" u="sng">
                <a:solidFill>
                  <a:schemeClr val="hlink"/>
                </a:solidFill>
                <a:highlight>
                  <a:srgbClr val="FFFFFF"/>
                </a:highlight>
                <a:latin typeface="Open Sans"/>
                <a:ea typeface="Open Sans"/>
                <a:cs typeface="Open Sans"/>
                <a:sym typeface="Open Sans"/>
                <a:hlinkClick r:id="rId3"/>
              </a:rPr>
              <a:t>HR dataset</a:t>
            </a:r>
            <a:r>
              <a:rPr lang="en" sz="1300">
                <a:solidFill>
                  <a:srgbClr val="525C65"/>
                </a:solidFill>
                <a:highlight>
                  <a:srgbClr val="FFFFFF"/>
                </a:highlight>
                <a:latin typeface="Open Sans"/>
                <a:ea typeface="Open Sans"/>
                <a:cs typeface="Open Sans"/>
                <a:sym typeface="Open Sans"/>
              </a:rPr>
              <a:t> you will be working with is an Excel workbook which consists of 206 records, with eleven columns. The data is in human readable format, and has not been normalized at all. The data lists the names of employees at Tech ABC Corp as well as information such as job title, department, manager's name, hire date, start date, end date, work location, and salary.</a:t>
            </a:r>
            <a:endParaRPr sz="130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30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500" b="1">
                <a:solidFill>
                  <a:srgbClr val="2E3D49"/>
                </a:solidFill>
                <a:highlight>
                  <a:schemeClr val="lt1"/>
                </a:highlight>
                <a:latin typeface="Open Sans"/>
                <a:ea typeface="Open Sans"/>
                <a:cs typeface="Open Sans"/>
                <a:sym typeface="Open Sans"/>
              </a:rPr>
              <a:t>IT Department Best Practices</a:t>
            </a:r>
            <a:endParaRPr sz="1500" b="1">
              <a:solidFill>
                <a:srgbClr val="2E3D49"/>
              </a:solidFill>
              <a:highlight>
                <a:schemeClr val="lt1"/>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a:solidFill>
                  <a:srgbClr val="525C65"/>
                </a:solidFill>
                <a:highlight>
                  <a:schemeClr val="lt1"/>
                </a:highlight>
                <a:latin typeface="Open Sans"/>
                <a:ea typeface="Open Sans"/>
                <a:cs typeface="Open Sans"/>
                <a:sym typeface="Open Sans"/>
              </a:rPr>
              <a:t>The IT Department has certain Best Practices policies for databases you should follow, as detailed in the </a:t>
            </a:r>
            <a:r>
              <a:rPr lang="en" sz="1300" u="sng">
                <a:solidFill>
                  <a:schemeClr val="hlink"/>
                </a:solidFill>
                <a:highlight>
                  <a:schemeClr val="lt1"/>
                </a:highlight>
                <a:latin typeface="Open Sans"/>
                <a:ea typeface="Open Sans"/>
                <a:cs typeface="Open Sans"/>
                <a:sym typeface="Open Sans"/>
                <a:hlinkClick r:id="rId4"/>
              </a:rPr>
              <a:t>Best Practices document</a:t>
            </a:r>
            <a:r>
              <a:rPr lang="en" sz="1300">
                <a:solidFill>
                  <a:srgbClr val="525C65"/>
                </a:solidFill>
                <a:highlight>
                  <a:schemeClr val="lt1"/>
                </a:highlight>
                <a:latin typeface="Open Sans"/>
                <a:ea typeface="Open Sans"/>
                <a:cs typeface="Open Sans"/>
                <a:sym typeface="Open Sans"/>
              </a:rPr>
              <a:t>.</a:t>
            </a:r>
            <a:endParaRPr sz="1300">
              <a:solidFill>
                <a:srgbClr val="525C65"/>
              </a:solidFill>
              <a:highlight>
                <a:srgbClr val="FFFFFF"/>
              </a:highlight>
              <a:latin typeface="Open Sans"/>
              <a:ea typeface="Open Sans"/>
              <a:cs typeface="Open Sans"/>
              <a:sym typeface="Open Sans"/>
            </a:endParaRPr>
          </a:p>
          <a:p>
            <a:pPr marL="0" lvl="0" indent="0" algn="l" rtl="0">
              <a:spcBef>
                <a:spcPts val="0"/>
              </a:spcBef>
              <a:spcAft>
                <a:spcPts val="1600"/>
              </a:spcAft>
              <a:buNone/>
            </a:pP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98"/>
        <p:cNvGrpSpPr/>
        <p:nvPr/>
      </p:nvGrpSpPr>
      <p:grpSpPr>
        <a:xfrm>
          <a:off x="0" y="0"/>
          <a:ext cx="0" cy="0"/>
          <a:chOff x="0" y="0"/>
          <a:chExt cx="0" cy="0"/>
        </a:xfrm>
      </p:grpSpPr>
      <p:sp>
        <p:nvSpPr>
          <p:cNvPr id="199" name="Google Shape;199;p54"/>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00" name="Google Shape;200;p54"/>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01" name="Google Shape;201;p54"/>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Architecture Foundations</a:t>
            </a:r>
            <a:endParaRPr sz="3000">
              <a:solidFill>
                <a:srgbClr val="FFFFFF"/>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5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1: Data Architecture Foundations</a:t>
            </a:r>
            <a:endParaRPr/>
          </a:p>
        </p:txBody>
      </p:sp>
      <p:sp>
        <p:nvSpPr>
          <p:cNvPr id="207" name="Google Shape;207;p55"/>
          <p:cNvSpPr txBox="1">
            <a:spLocks noGrp="1"/>
          </p:cNvSpPr>
          <p:nvPr>
            <p:ph type="body" idx="1"/>
          </p:nvPr>
        </p:nvSpPr>
        <p:spPr>
          <a:xfrm>
            <a:off x="264950" y="2253724"/>
            <a:ext cx="7242600" cy="75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000">
              <a:solidFill>
                <a:schemeClr val="dk1"/>
              </a:solidFill>
              <a:highlight>
                <a:srgbClr val="DBE2E8"/>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Hi,</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Welcome to Tech ABC Corp. We are excited to have some new talent onboard. As you may already know, Tech ABC Corp has recently experienced a lot of growth. Our AI powered video game console WOPR has been hugely successful and as a result, our company has grown from 10 employees to 200 in only 6 months (and we are projecting a 20% growth a year for the next 5 years). We have also grown from our Dallas, Texas office, to 4 other locations nationwide: New York City, NY, San Francisco, CA, Minneapolis, MN, and Nashville, TN.</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While this growth is great, it is really starting to put a strain on our record keeping in HR. We currently maintain all employee information on a shared spreadsheet. When HR consisted of only myself, managing everyone on an Excel spreadsheet was simple, but now that it is a shared document I am having serious reservations about data integrity and data security. If the wrong person got their hands on the HR file, they would see the salaries of every employee in the company, all the way up to the president.</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After speaking with Jacob Lauber, the manager of IT, he suggested I put in a request to have my HR Excel file converted into a database. He suggested I reach out to you as I am told you have experience in designing and building databases. When you are building this, please keep in mind that I want any employee with a domain login to be have read only access the database. I just don't want them having access to salary information. That needs to be restricted to HR and management level employees only. Management and HR employees should also be the only ones with write access. By our current estimates, 90% of users will be read only.</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I also want to make sure you know that am looking to turn my spreadsheet into a live database, one I can input and edit information into. I am not really concerned with reporting capabilities at the moment. Since we are working with employee data we are required by federal regulations to maintain this data for at least 7 years; additionally, since this is considered business critical data, we need to make sure it gets backed up properly.</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As a final consideration. We would like to be able to connect with the payroll department's system in the future. They maintain employee attendance and paid time off information. It would be nice if the two systems could interface in the future</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I am looking forward to working with you and seeing what kind of database you design for us.</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Thanks,</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Sarah Collins</a:t>
            </a:r>
            <a:endParaRPr sz="100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a:solidFill>
                  <a:srgbClr val="525C65"/>
                </a:solidFill>
                <a:highlight>
                  <a:srgbClr val="FFFFFF"/>
                </a:highlight>
                <a:latin typeface="Open Sans"/>
                <a:ea typeface="Open Sans"/>
                <a:cs typeface="Open Sans"/>
                <a:sym typeface="Open Sans"/>
              </a:rPr>
              <a:t>Head of HR</a:t>
            </a:r>
            <a:endParaRPr sz="11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Clr>
                <a:schemeClr val="dk1"/>
              </a:buClr>
              <a:buSzPts val="1100"/>
              <a:buFont typeface="Arial"/>
              <a:buNone/>
            </a:pPr>
            <a:endParaRPr sz="1000">
              <a:solidFill>
                <a:srgbClr val="525C65"/>
              </a:solidFill>
              <a:highlight>
                <a:srgbClr val="FFFFFF"/>
              </a:highlight>
              <a:latin typeface="Open Sans"/>
              <a:ea typeface="Open Sans"/>
              <a:cs typeface="Open Sans"/>
              <a:sym typeface="Open Sans"/>
            </a:endParaRPr>
          </a:p>
          <a:p>
            <a:pPr marL="0" lvl="0" indent="0" algn="l" rtl="0">
              <a:spcBef>
                <a:spcPts val="1100"/>
              </a:spcBef>
              <a:spcAft>
                <a:spcPts val="1600"/>
              </a:spcAft>
              <a:buNone/>
            </a:pP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5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Data Architect Business Requirement</a:t>
            </a:r>
            <a:endParaRPr/>
          </a:p>
        </p:txBody>
      </p:sp>
      <p:sp>
        <p:nvSpPr>
          <p:cNvPr id="213" name="Google Shape;213;p56"/>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lnSpc>
                <a:spcPct val="100000"/>
              </a:lnSpc>
              <a:spcBef>
                <a:spcPts val="0"/>
              </a:spcBef>
              <a:spcAft>
                <a:spcPts val="0"/>
              </a:spcAft>
              <a:buSzPts val="1900"/>
              <a:buFont typeface="Open Sans"/>
              <a:buChar char="●"/>
            </a:pPr>
            <a:r>
              <a:rPr lang="en" sz="1900" b="1">
                <a:latin typeface="Open Sans"/>
                <a:ea typeface="Open Sans"/>
                <a:cs typeface="Open Sans"/>
                <a:sym typeface="Open Sans"/>
              </a:rPr>
              <a:t>Purpose of the new database:</a:t>
            </a:r>
            <a:endParaRPr sz="1900" b="1">
              <a:latin typeface="Open Sans"/>
              <a:ea typeface="Open Sans"/>
              <a:cs typeface="Open Sans"/>
              <a:sym typeface="Open Sans"/>
            </a:endParaRPr>
          </a:p>
          <a:p>
            <a:pPr marL="457200" lvl="0" indent="0" algn="l" rtl="0">
              <a:lnSpc>
                <a:spcPct val="100000"/>
              </a:lnSpc>
              <a:spcBef>
                <a:spcPts val="1600"/>
              </a:spcBef>
              <a:spcAft>
                <a:spcPts val="0"/>
              </a:spcAft>
              <a:buClr>
                <a:schemeClr val="dk1"/>
              </a:buClr>
              <a:buSzPts val="1100"/>
              <a:buFont typeface="Arial"/>
              <a:buNone/>
            </a:pPr>
            <a:r>
              <a:rPr lang="en" sz="1700"/>
              <a:t>What is the business partner requesting  </a:t>
            </a:r>
            <a:endParaRPr sz="1700"/>
          </a:p>
          <a:p>
            <a:pPr marL="457200" lvl="0" indent="0" algn="l" rtl="0">
              <a:lnSpc>
                <a:spcPct val="100000"/>
              </a:lnSpc>
              <a:spcBef>
                <a:spcPts val="0"/>
              </a:spcBef>
              <a:spcAft>
                <a:spcPts val="0"/>
              </a:spcAft>
              <a:buClr>
                <a:schemeClr val="dk1"/>
              </a:buClr>
              <a:buSzPts val="1100"/>
              <a:buFont typeface="Arial"/>
              <a:buNone/>
            </a:pPr>
            <a:endParaRPr sz="1700"/>
          </a:p>
          <a:p>
            <a:pPr marL="457200" lvl="0" indent="-349250" algn="l" rtl="0">
              <a:spcBef>
                <a:spcPts val="1200"/>
              </a:spcBef>
              <a:spcAft>
                <a:spcPts val="0"/>
              </a:spcAft>
              <a:buSzPts val="1900"/>
              <a:buFont typeface="Open Sans"/>
              <a:buChar char="●"/>
            </a:pPr>
            <a:r>
              <a:rPr lang="en" sz="1900" b="1">
                <a:latin typeface="Open Sans"/>
                <a:ea typeface="Open Sans"/>
                <a:cs typeface="Open Sans"/>
                <a:sym typeface="Open Sans"/>
              </a:rPr>
              <a:t>Describe current data management solution:</a:t>
            </a:r>
            <a:endParaRPr sz="1900" b="1">
              <a:solidFill>
                <a:srgbClr val="000000"/>
              </a:solidFill>
              <a:latin typeface="Arial"/>
              <a:ea typeface="Arial"/>
              <a:cs typeface="Arial"/>
              <a:sym typeface="Arial"/>
            </a:endParaRPr>
          </a:p>
          <a:p>
            <a:pPr marL="457200" lvl="0" indent="0" algn="l" rtl="0">
              <a:spcBef>
                <a:spcPts val="1200"/>
              </a:spcBef>
              <a:spcAft>
                <a:spcPts val="0"/>
              </a:spcAft>
              <a:buNone/>
            </a:pPr>
            <a:r>
              <a:rPr lang="en" sz="1700"/>
              <a:t>What is the current method data storage/management</a:t>
            </a:r>
            <a:endParaRPr sz="1900">
              <a:solidFill>
                <a:srgbClr val="000000"/>
              </a:solidFill>
              <a:latin typeface="Arial"/>
              <a:ea typeface="Arial"/>
              <a:cs typeface="Arial"/>
              <a:sym typeface="Arial"/>
            </a:endParaRPr>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457200" lvl="0" indent="-349250" algn="l" rtl="0">
              <a:spcBef>
                <a:spcPts val="1200"/>
              </a:spcBef>
              <a:spcAft>
                <a:spcPts val="0"/>
              </a:spcAft>
              <a:buSzPts val="1900"/>
              <a:buFont typeface="Open Sans"/>
              <a:buChar char="●"/>
            </a:pPr>
            <a:r>
              <a:rPr lang="en" sz="1900" b="1">
                <a:latin typeface="Open Sans"/>
                <a:ea typeface="Open Sans"/>
                <a:cs typeface="Open Sans"/>
                <a:sym typeface="Open Sans"/>
              </a:rPr>
              <a:t>Describe current data available:</a:t>
            </a:r>
            <a:endParaRPr sz="1900" b="1">
              <a:latin typeface="Open Sans"/>
              <a:ea typeface="Open Sans"/>
              <a:cs typeface="Open Sans"/>
              <a:sym typeface="Open Sans"/>
            </a:endParaRPr>
          </a:p>
          <a:p>
            <a:pPr marL="0" lvl="0" indent="0" algn="l" rtl="0">
              <a:spcBef>
                <a:spcPts val="1600"/>
              </a:spcBef>
              <a:spcAft>
                <a:spcPts val="0"/>
              </a:spcAft>
              <a:buNone/>
            </a:pPr>
            <a:r>
              <a:rPr lang="en" sz="1900" b="1">
                <a:latin typeface="Open Sans"/>
                <a:ea typeface="Open Sans"/>
                <a:cs typeface="Open Sans"/>
                <a:sym typeface="Open Sans"/>
              </a:rPr>
              <a:t>	</a:t>
            </a:r>
            <a:r>
              <a:rPr lang="en" sz="1900"/>
              <a:t>What data does the business currently have available</a:t>
            </a:r>
            <a:endParaRPr sz="1900"/>
          </a:p>
          <a:p>
            <a:pPr marL="457200" lvl="0" indent="-349250" algn="l" rtl="0">
              <a:spcBef>
                <a:spcPts val="1600"/>
              </a:spcBef>
              <a:spcAft>
                <a:spcPts val="0"/>
              </a:spcAft>
              <a:buSzPts val="1900"/>
              <a:buFont typeface="Open Sans"/>
              <a:buChar char="●"/>
            </a:pPr>
            <a:r>
              <a:rPr lang="en" sz="1900" b="1">
                <a:latin typeface="Open Sans"/>
                <a:ea typeface="Open Sans"/>
                <a:cs typeface="Open Sans"/>
                <a:sym typeface="Open Sans"/>
              </a:rPr>
              <a:t>Additional data requests:</a:t>
            </a: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r>
              <a:rPr lang="en" sz="1700"/>
              <a:t>Does the user have future data requests</a:t>
            </a:r>
            <a:endParaRPr sz="1900"/>
          </a:p>
          <a:p>
            <a:pPr marL="457200" lvl="0" indent="0" algn="l" rtl="0">
              <a:spcBef>
                <a:spcPts val="0"/>
              </a:spcBef>
              <a:spcAft>
                <a:spcPts val="0"/>
              </a:spcAft>
              <a:buClr>
                <a:schemeClr val="dk1"/>
              </a:buClr>
              <a:buSzPts val="1100"/>
              <a:buFont typeface="Arial"/>
              <a:buNone/>
            </a:pPr>
            <a:endParaRPr sz="1900"/>
          </a:p>
          <a:p>
            <a:pPr marL="457200" lvl="0" indent="-349250" algn="l" rtl="0">
              <a:spcBef>
                <a:spcPts val="1600"/>
              </a:spcBef>
              <a:spcAft>
                <a:spcPts val="0"/>
              </a:spcAft>
              <a:buSzPts val="1900"/>
              <a:buFont typeface="Open Sans"/>
              <a:buChar char="●"/>
            </a:pPr>
            <a:r>
              <a:rPr lang="en" sz="1900" b="1">
                <a:latin typeface="Open Sans"/>
                <a:ea typeface="Open Sans"/>
                <a:cs typeface="Open Sans"/>
                <a:sym typeface="Open Sans"/>
              </a:rPr>
              <a:t>Who will own/manage data</a:t>
            </a: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r>
              <a:rPr lang="en" sz="1700"/>
              <a:t>What department will own / manage the data in the database</a:t>
            </a:r>
            <a:endParaRPr sz="1900"/>
          </a:p>
          <a:p>
            <a:pPr marL="457200" lvl="0" indent="0" algn="l" rtl="0">
              <a:lnSpc>
                <a:spcPct val="100000"/>
              </a:lnSpc>
              <a:spcBef>
                <a:spcPts val="0"/>
              </a:spcBef>
              <a:spcAft>
                <a:spcPts val="0"/>
              </a:spcAft>
              <a:buNone/>
            </a:pPr>
            <a:endParaRPr sz="1900"/>
          </a:p>
          <a:p>
            <a:pPr marL="457200" lvl="0" indent="-349250" algn="l" rtl="0">
              <a:spcBef>
                <a:spcPts val="0"/>
              </a:spcBef>
              <a:spcAft>
                <a:spcPts val="0"/>
              </a:spcAft>
              <a:buSzPts val="1900"/>
              <a:buFont typeface="Open Sans"/>
              <a:buChar char="●"/>
            </a:pPr>
            <a:r>
              <a:rPr lang="en" sz="1900" b="1">
                <a:latin typeface="Open Sans"/>
                <a:ea typeface="Open Sans"/>
                <a:cs typeface="Open Sans"/>
                <a:sym typeface="Open Sans"/>
              </a:rPr>
              <a:t>Who will have access to database</a:t>
            </a: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r>
              <a:rPr lang="en" sz="1700"/>
              <a:t>List user types that will have access; also list any restrictions to access.</a:t>
            </a:r>
            <a:endParaRPr sz="1900"/>
          </a:p>
          <a:p>
            <a:pPr marL="457200" lvl="0" indent="0" algn="l" rtl="0">
              <a:spcBef>
                <a:spcPts val="0"/>
              </a:spcBef>
              <a:spcAft>
                <a:spcPts val="0"/>
              </a:spcAft>
              <a:buClr>
                <a:schemeClr val="dk1"/>
              </a:buClr>
              <a:buSzPts val="1100"/>
              <a:buFont typeface="Arial"/>
              <a:buNone/>
            </a:pPr>
            <a:endParaRPr sz="1900"/>
          </a:p>
          <a:p>
            <a:pPr marL="457200" lvl="0" indent="0" algn="l" rtl="0">
              <a:spcBef>
                <a:spcPts val="1600"/>
              </a:spcBef>
              <a:spcAft>
                <a:spcPts val="1600"/>
              </a:spcAft>
              <a:buNone/>
            </a:pP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5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Data Architect Business Requirement</a:t>
            </a:r>
            <a:endParaRPr/>
          </a:p>
        </p:txBody>
      </p:sp>
      <p:sp>
        <p:nvSpPr>
          <p:cNvPr id="219" name="Google Shape;219;p57"/>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a:latin typeface="Open Sans"/>
                <a:ea typeface="Open Sans"/>
                <a:cs typeface="Open Sans"/>
                <a:sym typeface="Open Sans"/>
              </a:rPr>
              <a:t>Estimated size of database</a:t>
            </a: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r>
              <a:rPr lang="en" sz="1700"/>
              <a:t>List the size of the database in terms of numbers of rows. Business users often understand row or column size instead of GBs or MBs</a:t>
            </a:r>
            <a:endParaRPr sz="1900"/>
          </a:p>
          <a:p>
            <a:pPr marL="0" lvl="0" indent="0" algn="l" rtl="0">
              <a:spcBef>
                <a:spcPts val="0"/>
              </a:spcBef>
              <a:spcAft>
                <a:spcPts val="0"/>
              </a:spcAft>
              <a:buNone/>
            </a:pPr>
            <a:endParaRPr sz="1900"/>
          </a:p>
          <a:p>
            <a:pPr marL="457200" lvl="0" indent="-349250" algn="l" rtl="0">
              <a:spcBef>
                <a:spcPts val="1600"/>
              </a:spcBef>
              <a:spcAft>
                <a:spcPts val="0"/>
              </a:spcAft>
              <a:buSzPts val="1900"/>
              <a:buFont typeface="Open Sans"/>
              <a:buChar char="●"/>
            </a:pPr>
            <a:r>
              <a:rPr lang="en" sz="1900" b="1">
                <a:latin typeface="Open Sans"/>
                <a:ea typeface="Open Sans"/>
                <a:cs typeface="Open Sans"/>
                <a:sym typeface="Open Sans"/>
              </a:rPr>
              <a:t>Estimated annual growth</a:t>
            </a: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r>
              <a:rPr lang="en" sz="1700"/>
              <a:t>List any expected growth to the data</a:t>
            </a:r>
            <a:endParaRPr sz="1900" b="1">
              <a:latin typeface="Open Sans"/>
              <a:ea typeface="Open Sans"/>
              <a:cs typeface="Open Sans"/>
              <a:sym typeface="Open Sans"/>
            </a:endParaRPr>
          </a:p>
          <a:p>
            <a:pPr marL="0" lvl="0" indent="0" algn="l" rtl="0">
              <a:spcBef>
                <a:spcPts val="0"/>
              </a:spcBef>
              <a:spcAft>
                <a:spcPts val="0"/>
              </a:spcAft>
              <a:buNone/>
            </a:pPr>
            <a:endParaRPr sz="1900" b="1">
              <a:latin typeface="Open Sans"/>
              <a:ea typeface="Open Sans"/>
              <a:cs typeface="Open Sans"/>
              <a:sym typeface="Open Sans"/>
            </a:endParaRPr>
          </a:p>
          <a:p>
            <a:pPr marL="457200" lvl="0" indent="-349250" algn="l" rtl="0">
              <a:spcBef>
                <a:spcPts val="1600"/>
              </a:spcBef>
              <a:spcAft>
                <a:spcPts val="0"/>
              </a:spcAft>
              <a:buSzPts val="1900"/>
              <a:buFont typeface="Open Sans"/>
              <a:buChar char="●"/>
            </a:pPr>
            <a:r>
              <a:rPr lang="en" sz="1900" b="1">
                <a:latin typeface="Open Sans"/>
                <a:ea typeface="Open Sans"/>
                <a:cs typeface="Open Sans"/>
                <a:sym typeface="Open Sans"/>
              </a:rPr>
              <a:t>Is any of the data sensitive/restricted</a:t>
            </a: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r>
              <a:rPr lang="en" sz="1700"/>
              <a:t>List any data that may be sensitive or restricted from particular users</a:t>
            </a:r>
            <a:endParaRPr sz="1900"/>
          </a:p>
          <a:p>
            <a:pPr marL="0" lvl="0" indent="0" algn="l" rtl="0">
              <a:spcBef>
                <a:spcPts val="0"/>
              </a:spcBef>
              <a:spcAft>
                <a:spcPts val="0"/>
              </a:spcAft>
              <a:buNone/>
            </a:pPr>
            <a:endParaRPr sz="1900" b="1">
              <a:latin typeface="Open Sans"/>
              <a:ea typeface="Open Sans"/>
              <a:cs typeface="Open Sans"/>
              <a:sym typeface="Open Sans"/>
            </a:endParaRPr>
          </a:p>
          <a:p>
            <a:pPr marL="457200" lvl="0" indent="0" algn="l" rtl="0">
              <a:lnSpc>
                <a:spcPct val="100000"/>
              </a:lnSpc>
              <a:spcBef>
                <a:spcPts val="1600"/>
              </a:spcBef>
              <a:spcAft>
                <a:spcPts val="0"/>
              </a:spcAft>
              <a:buNone/>
            </a:pPr>
            <a:endParaRPr sz="1700"/>
          </a:p>
          <a:p>
            <a:pPr marL="457200" lvl="0" indent="0" algn="l" rtl="0">
              <a:lnSpc>
                <a:spcPct val="100000"/>
              </a:lnSpc>
              <a:spcBef>
                <a:spcPts val="0"/>
              </a:spcBef>
              <a:spcAft>
                <a:spcPts val="0"/>
              </a:spcAft>
              <a:buNone/>
            </a:pP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5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Data Architect Technical Requirement</a:t>
            </a:r>
            <a:endParaRPr/>
          </a:p>
        </p:txBody>
      </p:sp>
      <p:sp>
        <p:nvSpPr>
          <p:cNvPr id="225" name="Google Shape;225;p58"/>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600" b="1" dirty="0">
                <a:latin typeface="Open Sans"/>
                <a:ea typeface="Open Sans"/>
                <a:cs typeface="Open Sans"/>
                <a:sym typeface="Open Sans"/>
              </a:rPr>
              <a:t>Justification for the new database</a:t>
            </a:r>
            <a:endParaRPr sz="1600" b="1" dirty="0">
              <a:latin typeface="Open Sans"/>
              <a:ea typeface="Open Sans"/>
              <a:cs typeface="Open Sans"/>
              <a:sym typeface="Open Sans"/>
            </a:endParaRPr>
          </a:p>
          <a:p>
            <a:pPr marL="457200" lvl="0" indent="0" algn="l" rtl="0">
              <a:lnSpc>
                <a:spcPct val="100000"/>
              </a:lnSpc>
              <a:spcBef>
                <a:spcPts val="1600"/>
              </a:spcBef>
              <a:spcAft>
                <a:spcPts val="0"/>
              </a:spcAft>
              <a:buNone/>
            </a:pPr>
            <a:r>
              <a:rPr lang="en" sz="1600" dirty="0"/>
              <a:t>Provide at least two justifications for building a database</a:t>
            </a:r>
            <a:endParaRPr sz="1600" dirty="0"/>
          </a:p>
          <a:p>
            <a:pPr marL="457200" lvl="0" indent="-349250" algn="l" rtl="0">
              <a:spcBef>
                <a:spcPts val="1600"/>
              </a:spcBef>
              <a:spcAft>
                <a:spcPts val="0"/>
              </a:spcAft>
              <a:buSzPts val="1900"/>
              <a:buFont typeface="Open Sans"/>
              <a:buChar char="●"/>
            </a:pPr>
            <a:r>
              <a:rPr lang="en" sz="1600" b="1" dirty="0">
                <a:latin typeface="Open Sans"/>
                <a:ea typeface="Open Sans"/>
                <a:cs typeface="Open Sans"/>
                <a:sym typeface="Open Sans"/>
              </a:rPr>
              <a:t>Database objects</a:t>
            </a:r>
            <a:endParaRPr sz="1600" b="1" dirty="0">
              <a:latin typeface="Open Sans"/>
              <a:ea typeface="Open Sans"/>
              <a:cs typeface="Open Sans"/>
              <a:sym typeface="Open Sans"/>
            </a:endParaRPr>
          </a:p>
          <a:p>
            <a:pPr marL="457200" lvl="0" indent="0" algn="l" rtl="0">
              <a:lnSpc>
                <a:spcPct val="100000"/>
              </a:lnSpc>
              <a:spcBef>
                <a:spcPts val="1600"/>
              </a:spcBef>
              <a:spcAft>
                <a:spcPts val="0"/>
              </a:spcAft>
              <a:buNone/>
            </a:pPr>
            <a:r>
              <a:rPr lang="en" sz="1600" dirty="0"/>
              <a:t>List the database objects (tables, views, special procedures)  that will be created for the database. </a:t>
            </a:r>
            <a:endParaRPr sz="1600" dirty="0"/>
          </a:p>
          <a:p>
            <a:pPr marL="457200" lvl="0" indent="0" algn="l" rtl="0">
              <a:lnSpc>
                <a:spcPct val="100000"/>
              </a:lnSpc>
              <a:spcBef>
                <a:spcPts val="0"/>
              </a:spcBef>
              <a:spcAft>
                <a:spcPts val="0"/>
              </a:spcAft>
              <a:buNone/>
            </a:pPr>
            <a:endParaRPr sz="1600" dirty="0"/>
          </a:p>
          <a:p>
            <a:pPr marL="457200" lvl="0" indent="0" algn="l" rtl="0">
              <a:lnSpc>
                <a:spcPct val="100000"/>
              </a:lnSpc>
              <a:spcBef>
                <a:spcPts val="0"/>
              </a:spcBef>
              <a:spcAft>
                <a:spcPts val="0"/>
              </a:spcAft>
              <a:buNone/>
            </a:pPr>
            <a:r>
              <a:rPr lang="en" sz="1600" dirty="0"/>
              <a:t>Hint - you may want to circle back to this answer after completing the logical ERD in step 2.</a:t>
            </a:r>
            <a:endParaRPr sz="1600" dirty="0"/>
          </a:p>
          <a:p>
            <a:pPr lvl="0" indent="-349250">
              <a:buSzPts val="1900"/>
              <a:buFont typeface="Open Sans"/>
              <a:buChar char="●"/>
            </a:pPr>
            <a:r>
              <a:rPr lang="en-US" sz="1600" b="1" dirty="0">
                <a:latin typeface="Open Sans"/>
                <a:ea typeface="Open Sans"/>
                <a:cs typeface="Open Sans"/>
                <a:sym typeface="Open Sans"/>
              </a:rPr>
              <a:t>Scalability </a:t>
            </a:r>
          </a:p>
          <a:p>
            <a:pPr lvl="0" indent="0">
              <a:spcBef>
                <a:spcPts val="1600"/>
              </a:spcBef>
              <a:buNone/>
            </a:pPr>
            <a:r>
              <a:rPr lang="en-US" sz="1600" dirty="0"/>
              <a:t>Should replication or sharding be used to ensure scalability based on user needs</a:t>
            </a:r>
          </a:p>
          <a:p>
            <a:pPr lvl="0" indent="-349250">
              <a:spcBef>
                <a:spcPts val="1600"/>
              </a:spcBef>
              <a:buSzPts val="1900"/>
              <a:buFont typeface="Open Sans"/>
              <a:buChar char="●"/>
            </a:pPr>
            <a:r>
              <a:rPr lang="en-US" sz="1600" b="1" dirty="0">
                <a:latin typeface="Open Sans"/>
                <a:ea typeface="Open Sans"/>
                <a:cs typeface="Open Sans"/>
                <a:sym typeface="Open Sans"/>
              </a:rPr>
              <a:t>Flexibility</a:t>
            </a:r>
            <a:endParaRPr lang="en-US" sz="1600" dirty="0"/>
          </a:p>
          <a:p>
            <a:pPr lvl="0" indent="0">
              <a:spcBef>
                <a:spcPts val="1600"/>
              </a:spcBef>
              <a:buNone/>
            </a:pPr>
            <a:r>
              <a:rPr lang="en-US" sz="1600" dirty="0"/>
              <a:t>Describe measures taken to ensure future data integration if needed</a:t>
            </a:r>
          </a:p>
          <a:p>
            <a:pPr lvl="0" indent="-349250">
              <a:spcBef>
                <a:spcPts val="1600"/>
              </a:spcBef>
              <a:buSzPts val="1900"/>
              <a:buFont typeface="Open Sans"/>
              <a:buChar char="●"/>
            </a:pPr>
            <a:r>
              <a:rPr lang="en-US" sz="1600" b="1" dirty="0">
                <a:latin typeface="Open Sans"/>
                <a:ea typeface="Open Sans"/>
                <a:cs typeface="Open Sans"/>
                <a:sym typeface="Open Sans"/>
              </a:rPr>
              <a:t>Storage &amp; retention</a:t>
            </a:r>
          </a:p>
          <a:p>
            <a:pPr lvl="0" indent="0">
              <a:lnSpc>
                <a:spcPct val="100000"/>
              </a:lnSpc>
              <a:spcBef>
                <a:spcPts val="1600"/>
              </a:spcBef>
              <a:buNone/>
            </a:pPr>
            <a:r>
              <a:rPr lang="en-US" sz="1600" b="1" dirty="0">
                <a:latin typeface="Open Sans"/>
                <a:ea typeface="Open Sans"/>
                <a:cs typeface="Open Sans"/>
                <a:sym typeface="Open Sans"/>
              </a:rPr>
              <a:t>Storage (disk or in-memory): </a:t>
            </a:r>
            <a:r>
              <a:rPr lang="en-US" sz="1600" dirty="0"/>
              <a:t>check </a:t>
            </a:r>
            <a:r>
              <a:rPr lang="en-US" sz="1600" u="sng" dirty="0">
                <a:solidFill>
                  <a:schemeClr val="hlink"/>
                </a:solidFill>
                <a:hlinkClick r:id="rId3"/>
              </a:rPr>
              <a:t>IT best practices document</a:t>
            </a:r>
            <a:endParaRPr lang="en-US" sz="1600" dirty="0"/>
          </a:p>
          <a:p>
            <a:pPr lvl="0" indent="0">
              <a:lnSpc>
                <a:spcPct val="100000"/>
              </a:lnSpc>
              <a:buNone/>
            </a:pPr>
            <a:endParaRPr lang="en-US" sz="1600" dirty="0"/>
          </a:p>
          <a:p>
            <a:pPr lvl="0" indent="0">
              <a:lnSpc>
                <a:spcPct val="100000"/>
              </a:lnSpc>
              <a:buNone/>
            </a:pPr>
            <a:r>
              <a:rPr lang="en-US" sz="1600" b="1" dirty="0">
                <a:latin typeface="Open Sans"/>
                <a:ea typeface="Open Sans"/>
                <a:cs typeface="Open Sans"/>
                <a:sym typeface="Open Sans"/>
              </a:rPr>
              <a:t>Retention: </a:t>
            </a:r>
            <a:r>
              <a:rPr lang="en-US" sz="1600" dirty="0"/>
              <a:t>how long does the data have to be kept for?</a:t>
            </a:r>
          </a:p>
          <a:p>
            <a:pPr lvl="0" indent="0">
              <a:lnSpc>
                <a:spcPct val="100000"/>
              </a:lnSpc>
              <a:buNone/>
            </a:pPr>
            <a:endParaRPr lang="en-US" sz="1600" dirty="0"/>
          </a:p>
          <a:p>
            <a:pPr lvl="0" indent="0">
              <a:lnSpc>
                <a:spcPct val="100000"/>
              </a:lnSpc>
              <a:buNone/>
            </a:pPr>
            <a:endParaRPr lang="en-US" sz="1600" dirty="0"/>
          </a:p>
          <a:p>
            <a:pPr lvl="0" indent="-349250">
              <a:buSzPts val="1900"/>
              <a:buFont typeface="Open Sans"/>
              <a:buChar char="●"/>
            </a:pPr>
            <a:r>
              <a:rPr lang="en-US" sz="1600" b="1" dirty="0">
                <a:latin typeface="Open Sans"/>
                <a:ea typeface="Open Sans"/>
                <a:cs typeface="Open Sans"/>
                <a:sym typeface="Open Sans"/>
              </a:rPr>
              <a:t>Backup</a:t>
            </a:r>
          </a:p>
          <a:p>
            <a:pPr lvl="0" indent="0">
              <a:spcBef>
                <a:spcPts val="1600"/>
              </a:spcBef>
              <a:buNone/>
            </a:pPr>
            <a:r>
              <a:rPr lang="en-US" sz="1600" dirty="0"/>
              <a:t> </a:t>
            </a:r>
            <a:r>
              <a:rPr lang="en-US" sz="1600" u="sng" dirty="0">
                <a:solidFill>
                  <a:schemeClr val="hlink"/>
                </a:solidFill>
                <a:hlinkClick r:id="rId3"/>
              </a:rPr>
              <a:t>IT Best Practices document</a:t>
            </a:r>
            <a:r>
              <a:rPr lang="en-US" sz="1600" dirty="0"/>
              <a:t> lists Backup schedule requirements</a:t>
            </a:r>
          </a:p>
          <a:p>
            <a:pPr marL="457200" lvl="0" indent="0" algn="l" rtl="0">
              <a:spcBef>
                <a:spcPts val="0"/>
              </a:spcBef>
              <a:spcAft>
                <a:spcPts val="0"/>
              </a:spcAft>
              <a:buNone/>
            </a:pPr>
            <a:endParaRPr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5"/>
        <p:cNvGrpSpPr/>
        <p:nvPr/>
      </p:nvGrpSpPr>
      <p:grpSpPr>
        <a:xfrm>
          <a:off x="0" y="0"/>
          <a:ext cx="0" cy="0"/>
          <a:chOff x="0" y="0"/>
          <a:chExt cx="0" cy="0"/>
        </a:xfrm>
      </p:grpSpPr>
      <p:sp>
        <p:nvSpPr>
          <p:cNvPr id="236" name="Google Shape;236;p60"/>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Relational Database Design</a:t>
            </a:r>
            <a:endParaRPr sz="3000">
              <a:solidFill>
                <a:srgbClr val="FFFFFF"/>
              </a:solidFill>
              <a:latin typeface="Open Sans"/>
              <a:ea typeface="Open Sans"/>
              <a:cs typeface="Open Sans"/>
              <a:sym typeface="Open Sans"/>
            </a:endParaRPr>
          </a:p>
        </p:txBody>
      </p:sp>
      <p:sp>
        <p:nvSpPr>
          <p:cNvPr id="237" name="Google Shape;237;p6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6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2: Relational Database Design</a:t>
            </a:r>
            <a:endParaRPr/>
          </a:p>
        </p:txBody>
      </p:sp>
      <p:sp>
        <p:nvSpPr>
          <p:cNvPr id="243" name="Google Shape;243;p61"/>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0" lvl="0" indent="0" algn="l" rtl="0">
              <a:lnSpc>
                <a:spcPct val="170000"/>
              </a:lnSpc>
              <a:spcBef>
                <a:spcPts val="0"/>
              </a:spcBef>
              <a:spcAft>
                <a:spcPts val="0"/>
              </a:spcAft>
              <a:buNone/>
            </a:pPr>
            <a:r>
              <a:rPr lang="en" sz="1500" dirty="0">
                <a:solidFill>
                  <a:srgbClr val="525C65"/>
                </a:solidFill>
                <a:highlight>
                  <a:srgbClr val="FFFFFF"/>
                </a:highlight>
                <a:latin typeface="Open Sans"/>
                <a:ea typeface="Open Sans"/>
                <a:cs typeface="Open Sans"/>
                <a:sym typeface="Open Sans"/>
              </a:rPr>
              <a:t>This step is where you will go through the process of designing a new database for Tech ABC Corp's HR department. Using the </a:t>
            </a:r>
            <a:r>
              <a:rPr lang="en" sz="1500" u="sng" dirty="0">
                <a:solidFill>
                  <a:schemeClr val="hlink"/>
                </a:solidFill>
                <a:highlight>
                  <a:srgbClr val="FFFFFF"/>
                </a:highlight>
                <a:latin typeface="Open Sans"/>
                <a:ea typeface="Open Sans"/>
                <a:cs typeface="Open Sans"/>
                <a:sym typeface="Open Sans"/>
                <a:hlinkClick r:id="rId3"/>
              </a:rPr>
              <a:t>dataset</a:t>
            </a:r>
            <a:r>
              <a:rPr lang="en" sz="1500" dirty="0">
                <a:solidFill>
                  <a:srgbClr val="525C65"/>
                </a:solidFill>
                <a:highlight>
                  <a:srgbClr val="FFFFFF"/>
                </a:highlight>
                <a:latin typeface="Open Sans"/>
                <a:ea typeface="Open Sans"/>
                <a:cs typeface="Open Sans"/>
                <a:sym typeface="Open Sans"/>
              </a:rPr>
              <a:t> provided, along with the requirements gathered in step one, you are going to develop a relational database set to the 3NF.</a:t>
            </a:r>
            <a:endParaRPr sz="15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5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500" dirty="0">
                <a:solidFill>
                  <a:srgbClr val="525C65"/>
                </a:solidFill>
                <a:highlight>
                  <a:srgbClr val="FFFFFF"/>
                </a:highlight>
                <a:latin typeface="Open Sans"/>
                <a:ea typeface="Open Sans"/>
                <a:cs typeface="Open Sans"/>
                <a:sym typeface="Open Sans"/>
              </a:rPr>
              <a:t>Using Mermaid, you will create 3 entity relationship diagrams (ERDs) to show how you developed the final design for your data.</a:t>
            </a:r>
            <a:endParaRPr sz="15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5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Clr>
                <a:schemeClr val="dk1"/>
              </a:buClr>
              <a:buSzPts val="1100"/>
              <a:buFont typeface="Arial"/>
              <a:buNone/>
            </a:pPr>
            <a:r>
              <a:rPr lang="en-US" sz="1500" dirty="0">
                <a:solidFill>
                  <a:srgbClr val="525C65"/>
                </a:solidFill>
                <a:highlight>
                  <a:srgbClr val="FFFFFF"/>
                </a:highlight>
                <a:latin typeface="Open Sans"/>
                <a:ea typeface="Open Sans"/>
                <a:cs typeface="Open Sans"/>
                <a:sym typeface="Open Sans"/>
              </a:rPr>
              <a:t>Mermaid code should be entered into a Markdown cell. Once cell is executed, the diagram should appear</a:t>
            </a:r>
            <a:endParaRPr sz="1500" dirty="0">
              <a:solidFill>
                <a:srgbClr val="525C65"/>
              </a:solidFill>
              <a:highlight>
                <a:srgbClr val="FFFFFF"/>
              </a:highlight>
              <a:latin typeface="Open Sans"/>
              <a:ea typeface="Open Sans"/>
              <a:cs typeface="Open Sans"/>
              <a:sym typeface="Open Sans"/>
            </a:endParaRPr>
          </a:p>
          <a:p>
            <a:pPr marL="0" lvl="0" indent="0" algn="l" rtl="0">
              <a:spcBef>
                <a:spcPts val="1100"/>
              </a:spcBef>
              <a:spcAft>
                <a:spcPts val="1600"/>
              </a:spcAft>
              <a:buNone/>
            </a:pPr>
            <a:endParaRPr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49" name="Google Shape;249;p62"/>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Conceptual</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200" dirty="0">
                <a:solidFill>
                  <a:srgbClr val="525C65"/>
                </a:solidFill>
                <a:highlight>
                  <a:srgbClr val="FFFFFF"/>
                </a:highlight>
                <a:latin typeface="Open Sans"/>
                <a:ea typeface="Open Sans"/>
                <a:cs typeface="Open Sans"/>
                <a:sym typeface="Open Sans"/>
              </a:rPr>
              <a:t>This is the most general level of data modeling. At the conceptual level, you should be thinking about creating entities that represent business objects for the database. Think broadly here. Attributes (or column names) are not required at this point, but relationship lines are required (although Crow's foot notation is not needed at this level). Create at least three entities for this model; thinking about the 3NF will aid you in deciding the type of entities to create.</a:t>
            </a:r>
            <a:endParaRPr sz="1200" dirty="0">
              <a:solidFill>
                <a:srgbClr val="525C65"/>
              </a:solidFill>
              <a:highlight>
                <a:srgbClr val="FFFFFF"/>
              </a:highlight>
              <a:latin typeface="Open Sans"/>
              <a:ea typeface="Open Sans"/>
              <a:cs typeface="Open Sans"/>
              <a:sym typeface="Open Sans"/>
            </a:endParaRPr>
          </a:p>
          <a:p>
            <a:pPr marL="457200" lvl="0" indent="0" algn="l" rtl="0">
              <a:spcBef>
                <a:spcPts val="0"/>
              </a:spcBef>
              <a:spcAft>
                <a:spcPts val="1600"/>
              </a:spcAft>
              <a:buClr>
                <a:schemeClr val="dk1"/>
              </a:buClr>
              <a:buSzPts val="1100"/>
              <a:buFont typeface="Arial"/>
              <a:buNone/>
            </a:pPr>
            <a:endParaRPr sz="1900" dirty="0"/>
          </a:p>
        </p:txBody>
      </p:sp>
      <p:pic>
        <p:nvPicPr>
          <p:cNvPr id="3" name="Picture 2">
            <a:extLst>
              <a:ext uri="{FF2B5EF4-FFF2-40B4-BE49-F238E27FC236}">
                <a16:creationId xmlns:a16="http://schemas.microsoft.com/office/drawing/2014/main" id="{708B87A2-D544-6AC1-4AA2-4619E0CFF172}"/>
              </a:ext>
            </a:extLst>
          </p:cNvPr>
          <p:cNvPicPr>
            <a:picLocks noChangeAspect="1"/>
          </p:cNvPicPr>
          <p:nvPr/>
        </p:nvPicPr>
        <p:blipFill>
          <a:blip r:embed="rId3"/>
          <a:stretch>
            <a:fillRect/>
          </a:stretch>
        </p:blipFill>
        <p:spPr>
          <a:xfrm>
            <a:off x="403099" y="5766346"/>
            <a:ext cx="6754168" cy="30579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6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56" name="Google Shape;256;p63"/>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Logical</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400" dirty="0">
                <a:solidFill>
                  <a:srgbClr val="525C65"/>
                </a:solidFill>
                <a:highlight>
                  <a:srgbClr val="FFFFFF"/>
                </a:highlight>
                <a:latin typeface="Open Sans"/>
                <a:ea typeface="Open Sans"/>
                <a:cs typeface="Open Sans"/>
                <a:sym typeface="Open Sans"/>
              </a:rPr>
              <a:t>The logical model is the next level of refinement from the conceptual ERD. At this point, you should have normalized the data to the 3NF. Attributes should also be listed now in the ERD. You can still use human-friendly entity and attribute names in the logical model, and while relationship lines are required, Crow's foot notation is still not needed at this point.</a:t>
            </a:r>
            <a:endParaRPr sz="1400" dirty="0">
              <a:solidFill>
                <a:srgbClr val="525C65"/>
              </a:solidFill>
              <a:highlight>
                <a:srgbClr val="FFFFFF"/>
              </a:highlight>
              <a:latin typeface="Open Sans"/>
              <a:ea typeface="Open Sans"/>
              <a:cs typeface="Open Sans"/>
              <a:sym typeface="Open Sans"/>
            </a:endParaRPr>
          </a:p>
          <a:p>
            <a:pPr marL="457200" lvl="0" indent="0" algn="l" rtl="0">
              <a:spcBef>
                <a:spcPts val="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AC490A07-8568-2536-B414-8B0158450038}"/>
              </a:ext>
            </a:extLst>
          </p:cNvPr>
          <p:cNvPicPr>
            <a:picLocks noChangeAspect="1"/>
          </p:cNvPicPr>
          <p:nvPr/>
        </p:nvPicPr>
        <p:blipFill>
          <a:blip r:embed="rId3"/>
          <a:stretch>
            <a:fillRect/>
          </a:stretch>
        </p:blipFill>
        <p:spPr>
          <a:xfrm>
            <a:off x="1245705" y="4819287"/>
            <a:ext cx="5593510" cy="48440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6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63" name="Google Shape;263;p64"/>
          <p:cNvSpPr txBox="1">
            <a:spLocks noGrp="1"/>
          </p:cNvSpPr>
          <p:nvPr>
            <p:ph type="body" idx="1"/>
          </p:nvPr>
        </p:nvSpPr>
        <p:spPr>
          <a:xfrm>
            <a:off x="264950" y="199017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Physical</a:t>
            </a:r>
            <a:endParaRPr sz="1900" b="1" dirty="0">
              <a:latin typeface="Open Sans"/>
              <a:ea typeface="Open Sans"/>
              <a:cs typeface="Open Sans"/>
              <a:sym typeface="Open Sans"/>
            </a:endParaRPr>
          </a:p>
          <a:p>
            <a:pPr marL="457200" lvl="0" indent="0" algn="l" rtl="0">
              <a:lnSpc>
                <a:spcPct val="170000"/>
              </a:lnSpc>
              <a:spcBef>
                <a:spcPts val="1600"/>
              </a:spcBef>
              <a:spcAft>
                <a:spcPts val="0"/>
              </a:spcAft>
              <a:buNone/>
            </a:pPr>
            <a:r>
              <a:rPr lang="en" sz="1400" dirty="0">
                <a:solidFill>
                  <a:srgbClr val="525C65"/>
                </a:solidFill>
                <a:highlight>
                  <a:srgbClr val="FFFFFF"/>
                </a:highlight>
                <a:latin typeface="Open Sans"/>
                <a:ea typeface="Open Sans"/>
                <a:cs typeface="Open Sans"/>
                <a:sym typeface="Open Sans"/>
              </a:rPr>
              <a:t>The physical model is what will be built in the database. Each entity should represent a database table, complete with column names and data types. Primary keys and foreign keys should also be represented here. Primary keys should be in bold type with the (PK) designation following the field name. Foreign keys should be in normal type face, but have the designation (FK) after the column name. Finally, in the physical model, Crow's foot notation is important.</a:t>
            </a:r>
            <a:endParaRPr sz="1200" dirty="0">
              <a:solidFill>
                <a:srgbClr val="525C65"/>
              </a:solidFill>
              <a:highlight>
                <a:schemeClr val="lt1"/>
              </a:highlight>
              <a:latin typeface="Open Sans"/>
              <a:ea typeface="Open Sans"/>
              <a:cs typeface="Open Sans"/>
              <a:sym typeface="Open Sans"/>
            </a:endParaRPr>
          </a:p>
          <a:p>
            <a:pPr marL="457200" lvl="0" indent="0" algn="l" rtl="0">
              <a:spcBef>
                <a:spcPts val="0"/>
              </a:spcBef>
              <a:spcAft>
                <a:spcPts val="1600"/>
              </a:spcAft>
              <a:buNone/>
            </a:pPr>
            <a:endParaRPr sz="1500" dirty="0">
              <a:solidFill>
                <a:srgbClr val="525C65"/>
              </a:solidFill>
              <a:highlight>
                <a:srgbClr val="FFFFFF"/>
              </a:highlight>
              <a:latin typeface="Open Sans"/>
              <a:ea typeface="Open Sans"/>
              <a:cs typeface="Open Sans"/>
              <a:sym typeface="Open Sans"/>
            </a:endParaRPr>
          </a:p>
        </p:txBody>
      </p:sp>
      <p:pic>
        <p:nvPicPr>
          <p:cNvPr id="3" name="Picture 2">
            <a:extLst>
              <a:ext uri="{FF2B5EF4-FFF2-40B4-BE49-F238E27FC236}">
                <a16:creationId xmlns:a16="http://schemas.microsoft.com/office/drawing/2014/main" id="{2C1E927B-FDEB-2F5B-9DD6-ED533B1BB570}"/>
              </a:ext>
            </a:extLst>
          </p:cNvPr>
          <p:cNvPicPr>
            <a:picLocks noChangeAspect="1"/>
          </p:cNvPicPr>
          <p:nvPr/>
        </p:nvPicPr>
        <p:blipFill>
          <a:blip r:embed="rId3"/>
          <a:stretch>
            <a:fillRect/>
          </a:stretch>
        </p:blipFill>
        <p:spPr>
          <a:xfrm>
            <a:off x="532932" y="5220020"/>
            <a:ext cx="6706536" cy="46583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a:extLst>
            <a:ext uri="{FF2B5EF4-FFF2-40B4-BE49-F238E27FC236}">
              <a16:creationId xmlns:a16="http://schemas.microsoft.com/office/drawing/2014/main" id="{1D597FBC-EC08-F66B-6F0C-FF38139798DA}"/>
            </a:ext>
          </a:extLst>
        </p:cNvPr>
        <p:cNvGrpSpPr/>
        <p:nvPr/>
      </p:nvGrpSpPr>
      <p:grpSpPr>
        <a:xfrm>
          <a:off x="0" y="0"/>
          <a:ext cx="0" cy="0"/>
          <a:chOff x="0" y="0"/>
          <a:chExt cx="0" cy="0"/>
        </a:xfrm>
      </p:grpSpPr>
      <p:sp>
        <p:nvSpPr>
          <p:cNvPr id="269" name="Google Shape;269;p65">
            <a:extLst>
              <a:ext uri="{FF2B5EF4-FFF2-40B4-BE49-F238E27FC236}">
                <a16:creationId xmlns:a16="http://schemas.microsoft.com/office/drawing/2014/main" id="{A64276F3-2DD5-D9FC-D8E3-EC3C071886CF}"/>
              </a:ext>
            </a:extLst>
          </p:cNvPr>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dirty="0">
                <a:solidFill>
                  <a:srgbClr val="FFFFFF"/>
                </a:solidFill>
                <a:latin typeface="Open Sans"/>
                <a:ea typeface="Open Sans"/>
                <a:cs typeface="Open Sans"/>
                <a:sym typeface="Open Sans"/>
              </a:rPr>
              <a:t>Step 3</a:t>
            </a:r>
            <a:endParaRPr sz="3000" b="1" dirty="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dirty="0">
                <a:solidFill>
                  <a:srgbClr val="FFFFFF"/>
                </a:solidFill>
                <a:latin typeface="Open Sans"/>
                <a:ea typeface="Open Sans"/>
                <a:cs typeface="Open Sans"/>
                <a:sym typeface="Open Sans"/>
              </a:rPr>
              <a:t>ETL Process/</a:t>
            </a:r>
          </a:p>
          <a:p>
            <a:pPr marL="0" marR="0" lvl="0" indent="0" algn="ctr" rtl="0">
              <a:lnSpc>
                <a:spcPct val="150000"/>
              </a:lnSpc>
              <a:spcBef>
                <a:spcPts val="0"/>
              </a:spcBef>
              <a:spcAft>
                <a:spcPts val="0"/>
              </a:spcAft>
              <a:buClr>
                <a:srgbClr val="FFFFFF"/>
              </a:buClr>
              <a:buFont typeface="Open Sans"/>
              <a:buNone/>
            </a:pPr>
            <a:r>
              <a:rPr lang="en" sz="3000" dirty="0">
                <a:solidFill>
                  <a:srgbClr val="FFFFFF"/>
                </a:solidFill>
                <a:latin typeface="Open Sans"/>
                <a:ea typeface="Open Sans"/>
                <a:cs typeface="Open Sans"/>
                <a:sym typeface="Open Sans"/>
              </a:rPr>
              <a:t>Data Contract</a:t>
            </a:r>
            <a:endParaRPr sz="3000" dirty="0">
              <a:solidFill>
                <a:srgbClr val="FFFFFF"/>
              </a:solidFill>
              <a:latin typeface="Open Sans"/>
              <a:ea typeface="Open Sans"/>
              <a:cs typeface="Open Sans"/>
              <a:sym typeface="Open Sans"/>
            </a:endParaRPr>
          </a:p>
        </p:txBody>
      </p:sp>
      <p:sp>
        <p:nvSpPr>
          <p:cNvPr id="270" name="Google Shape;270;p65">
            <a:extLst>
              <a:ext uri="{FF2B5EF4-FFF2-40B4-BE49-F238E27FC236}">
                <a16:creationId xmlns:a16="http://schemas.microsoft.com/office/drawing/2014/main" id="{54C6B553-1F32-BBFE-AF49-2C7422F660FE}"/>
              </a:ext>
            </a:extLst>
          </p:cNvPr>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669129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Step 3: ETL Process/Data Contract</a:t>
            </a:r>
            <a:endParaRPr dirty="0"/>
          </a:p>
        </p:txBody>
      </p:sp>
      <p:sp>
        <p:nvSpPr>
          <p:cNvPr id="276" name="Google Shape;276;p66"/>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38100" indent="0">
              <a:buNone/>
            </a:pPr>
            <a:r>
              <a:rPr lang="en-US" sz="1800" dirty="0">
                <a:highlight>
                  <a:srgbClr val="FFFFFF"/>
                </a:highlight>
              </a:rPr>
              <a:t>In this step you will build a complete data ingestion pipeline from scratch. You will read employee data from an Excel file, validate it against a JSON data contract you define, and load only the rows that pass validation into a landing table in your AWS database.</a:t>
            </a:r>
          </a:p>
          <a:p>
            <a:pPr marL="38100" indent="0">
              <a:buNone/>
            </a:pPr>
            <a:endParaRPr lang="en-US" sz="1800" dirty="0">
              <a:highlight>
                <a:srgbClr val="FFFFFF"/>
              </a:highlight>
            </a:endParaRPr>
          </a:p>
          <a:p>
            <a:pPr marL="38100" indent="0">
              <a:buNone/>
            </a:pPr>
            <a:r>
              <a:rPr lang="en-US" sz="1800" dirty="0">
                <a:highlight>
                  <a:srgbClr val="FFFFFF"/>
                </a:highlight>
              </a:rPr>
              <a:t>You will complete five steps in order:</a:t>
            </a:r>
          </a:p>
          <a:p>
            <a:pPr marL="38100" indent="0">
              <a:buNone/>
            </a:pPr>
            <a:r>
              <a:rPr lang="en-US" sz="1800" dirty="0">
                <a:highlight>
                  <a:srgbClr val="FFFFFF"/>
                </a:highlight>
              </a:rPr>
              <a:t> </a:t>
            </a:r>
          </a:p>
          <a:p>
            <a:pPr lvl="0"/>
            <a:r>
              <a:rPr lang="en-US" sz="1800" dirty="0">
                <a:highlight>
                  <a:srgbClr val="FFFFFF"/>
                </a:highlight>
              </a:rPr>
              <a:t>Define a JSON data contract for five employee columns</a:t>
            </a:r>
          </a:p>
          <a:p>
            <a:pPr lvl="0"/>
            <a:r>
              <a:rPr lang="en-US" sz="1800" dirty="0">
                <a:highlight>
                  <a:srgbClr val="FFFFFF"/>
                </a:highlight>
              </a:rPr>
              <a:t>Write Python code to read the Excel file</a:t>
            </a:r>
          </a:p>
          <a:p>
            <a:pPr lvl="0"/>
            <a:r>
              <a:rPr lang="en-US" sz="1800" dirty="0">
                <a:highlight>
                  <a:srgbClr val="FFFFFF"/>
                </a:highlight>
              </a:rPr>
              <a:t>Write Python code to validate each row against the contract</a:t>
            </a:r>
          </a:p>
          <a:p>
            <a:pPr lvl="0"/>
            <a:r>
              <a:rPr lang="en-US" sz="1800" dirty="0">
                <a:highlight>
                  <a:srgbClr val="FFFFFF"/>
                </a:highlight>
              </a:rPr>
              <a:t>Connect to your AWS database and create a landing table</a:t>
            </a:r>
          </a:p>
          <a:p>
            <a:pPr lvl="0"/>
            <a:r>
              <a:rPr lang="en-US" sz="1800" dirty="0">
                <a:highlight>
                  <a:srgbClr val="FFFFFF"/>
                </a:highlight>
              </a:rPr>
              <a:t>Push validated rows into the landing table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71A1AEC-B378-F1A4-3344-1F42959EE1F2}"/>
            </a:ext>
          </a:extLst>
        </p:cNvPr>
        <p:cNvGrpSpPr/>
        <p:nvPr/>
      </p:nvGrpSpPr>
      <p:grpSpPr>
        <a:xfrm>
          <a:off x="0" y="0"/>
          <a:ext cx="0" cy="0"/>
          <a:chOff x="0" y="0"/>
          <a:chExt cx="0" cy="0"/>
        </a:xfrm>
      </p:grpSpPr>
      <p:sp>
        <p:nvSpPr>
          <p:cNvPr id="275" name="Google Shape;275;p66">
            <a:extLst>
              <a:ext uri="{FF2B5EF4-FFF2-40B4-BE49-F238E27FC236}">
                <a16:creationId xmlns:a16="http://schemas.microsoft.com/office/drawing/2014/main" id="{067A9053-2DF6-2648-74FD-1FE77E4B0681}"/>
              </a:ext>
            </a:extLst>
          </p:cNvPr>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JSON</a:t>
            </a:r>
            <a:endParaRPr dirty="0"/>
          </a:p>
        </p:txBody>
      </p:sp>
      <p:sp>
        <p:nvSpPr>
          <p:cNvPr id="276" name="Google Shape;276;p66">
            <a:extLst>
              <a:ext uri="{FF2B5EF4-FFF2-40B4-BE49-F238E27FC236}">
                <a16:creationId xmlns:a16="http://schemas.microsoft.com/office/drawing/2014/main" id="{C7DBAE9E-3D36-7E30-0D2D-9E7449DCBC2D}"/>
              </a:ext>
            </a:extLst>
          </p:cNvPr>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38100" indent="0">
              <a:buNone/>
            </a:pPr>
            <a:r>
              <a:rPr lang="en-US" sz="1400" b="1" dirty="0">
                <a:highlight>
                  <a:srgbClr val="FFFFFF"/>
                </a:highlight>
              </a:rPr>
              <a:t>JSON Contract</a:t>
            </a:r>
            <a:endParaRPr lang="en-US" sz="1400" dirty="0">
              <a:highlight>
                <a:srgbClr val="FFFFFF"/>
              </a:highlight>
            </a:endParaRPr>
          </a:p>
          <a:p>
            <a:pPr marL="38100" indent="0">
              <a:buNone/>
            </a:pPr>
            <a:r>
              <a:rPr lang="en-US" sz="1400" dirty="0">
                <a:highlight>
                  <a:srgbClr val="FFFFFF"/>
                </a:highlight>
              </a:rPr>
              <a:t>Create a file called </a:t>
            </a:r>
            <a:r>
              <a:rPr lang="en-US" sz="1400" dirty="0" err="1">
                <a:highlight>
                  <a:srgbClr val="FFFFFF"/>
                </a:highlight>
              </a:rPr>
              <a:t>data_contract.json</a:t>
            </a:r>
            <a:r>
              <a:rPr lang="en-US" sz="1400" dirty="0">
                <a:highlight>
                  <a:srgbClr val="FFFFFF"/>
                </a:highlight>
              </a:rPr>
              <a:t>. Your contract must define rules for exactly these five columns:</a:t>
            </a:r>
          </a:p>
          <a:p>
            <a:pPr marL="38100" indent="0">
              <a:buNone/>
            </a:pPr>
            <a:r>
              <a:rPr lang="en-US" sz="1400" dirty="0">
                <a:highlight>
                  <a:srgbClr val="FFFFFF"/>
                </a:highlight>
              </a:rPr>
              <a:t> </a:t>
            </a:r>
          </a:p>
          <a:p>
            <a:pPr lvl="0"/>
            <a:r>
              <a:rPr lang="en-US" sz="1400" dirty="0">
                <a:highlight>
                  <a:srgbClr val="FFFFFF"/>
                </a:highlight>
              </a:rPr>
              <a:t>EMP_ID — a required string with a maximum length of 20 characters</a:t>
            </a:r>
          </a:p>
          <a:p>
            <a:pPr lvl="0"/>
            <a:r>
              <a:rPr lang="en-US" sz="1400" dirty="0">
                <a:highlight>
                  <a:srgbClr val="FFFFFF"/>
                </a:highlight>
              </a:rPr>
              <a:t>HIRE_DT — a required date value in YYYY-MM-DD format</a:t>
            </a:r>
          </a:p>
          <a:p>
            <a:pPr lvl="0"/>
            <a:r>
              <a:rPr lang="en-US" sz="1400" dirty="0">
                <a:highlight>
                  <a:srgbClr val="FFFFFF"/>
                </a:highlight>
              </a:rPr>
              <a:t>JOB_TITLE — a required string with a maximum length of 100 characters</a:t>
            </a:r>
          </a:p>
          <a:p>
            <a:pPr lvl="0"/>
            <a:r>
              <a:rPr lang="en-US" sz="1400" dirty="0">
                <a:highlight>
                  <a:srgbClr val="FFFFFF"/>
                </a:highlight>
              </a:rPr>
              <a:t>DEPARTMENT — a required string with a maximum length of 100 characters</a:t>
            </a:r>
          </a:p>
          <a:p>
            <a:pPr lvl="0"/>
            <a:r>
              <a:rPr lang="en-US" sz="1400" dirty="0">
                <a:highlight>
                  <a:srgbClr val="FFFFFF"/>
                </a:highlight>
              </a:rPr>
              <a:t>LOCATION — a required string with a maximum length of 100 characters</a:t>
            </a:r>
          </a:p>
          <a:p>
            <a:pPr marL="38100" indent="0">
              <a:buNone/>
            </a:pPr>
            <a:endParaRPr lang="en-US" sz="1400" dirty="0">
              <a:highlight>
                <a:srgbClr val="FFFFFF"/>
              </a:highlight>
            </a:endParaRPr>
          </a:p>
          <a:p>
            <a:pPr marL="38100" indent="0">
              <a:buNone/>
            </a:pPr>
            <a:r>
              <a:rPr lang="en-US" sz="1400" b="1" dirty="0">
                <a:highlight>
                  <a:srgbClr val="FFFFFF"/>
                </a:highlight>
              </a:rPr>
              <a:t>JSON structure guidance</a:t>
            </a:r>
            <a:endParaRPr lang="en-US" sz="1400" dirty="0">
              <a:highlight>
                <a:srgbClr val="FFFFFF"/>
              </a:highlight>
            </a:endParaRPr>
          </a:p>
          <a:p>
            <a:pPr marL="38100" indent="0">
              <a:buNone/>
            </a:pPr>
            <a:r>
              <a:rPr lang="en-US" sz="1400" dirty="0">
                <a:highlight>
                  <a:srgbClr val="FFFFFF"/>
                </a:highlight>
              </a:rPr>
              <a:t>Your contract should be a JSON object with a top-level key called "columns". Each column name is a key inside "columns", and its value is an object containing the rules for that column. At minimum, include: type, required, and </a:t>
            </a:r>
            <a:r>
              <a:rPr lang="en-US" sz="1400" dirty="0" err="1">
                <a:highlight>
                  <a:srgbClr val="FFFFFF"/>
                </a:highlight>
              </a:rPr>
              <a:t>max_length</a:t>
            </a:r>
            <a:r>
              <a:rPr lang="en-US" sz="1400" dirty="0">
                <a:highlight>
                  <a:srgbClr val="FFFFFF"/>
                </a:highlight>
              </a:rPr>
              <a:t> (where applicable)</a:t>
            </a:r>
          </a:p>
          <a:p>
            <a:pPr marL="38100" indent="0">
              <a:buNone/>
            </a:pPr>
            <a:endParaRPr lang="en-US" dirty="0">
              <a:highlight>
                <a:srgbClr val="FFFFFF"/>
              </a:highlight>
            </a:endParaRPr>
          </a:p>
        </p:txBody>
      </p:sp>
      <p:pic>
        <p:nvPicPr>
          <p:cNvPr id="5" name="Picture 4">
            <a:extLst>
              <a:ext uri="{FF2B5EF4-FFF2-40B4-BE49-F238E27FC236}">
                <a16:creationId xmlns:a16="http://schemas.microsoft.com/office/drawing/2014/main" id="{73E69783-C080-29F0-FD24-47C434466288}"/>
              </a:ext>
            </a:extLst>
          </p:cNvPr>
          <p:cNvPicPr>
            <a:picLocks noChangeAspect="1"/>
          </p:cNvPicPr>
          <p:nvPr/>
        </p:nvPicPr>
        <p:blipFill>
          <a:blip r:embed="rId3"/>
          <a:stretch>
            <a:fillRect/>
          </a:stretch>
        </p:blipFill>
        <p:spPr>
          <a:xfrm>
            <a:off x="264895" y="6312458"/>
            <a:ext cx="7196914" cy="2168933"/>
          </a:xfrm>
          <a:prstGeom prst="rect">
            <a:avLst/>
          </a:prstGeom>
        </p:spPr>
      </p:pic>
    </p:spTree>
    <p:extLst>
      <p:ext uri="{BB962C8B-B14F-4D97-AF65-F5344CB8AC3E}">
        <p14:creationId xmlns:p14="http://schemas.microsoft.com/office/powerpoint/2010/main" val="2012295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8B1E7928-FE7D-C066-7387-3BB95EC7D2A5}"/>
            </a:ext>
          </a:extLst>
        </p:cNvPr>
        <p:cNvGrpSpPr/>
        <p:nvPr/>
      </p:nvGrpSpPr>
      <p:grpSpPr>
        <a:xfrm>
          <a:off x="0" y="0"/>
          <a:ext cx="0" cy="0"/>
          <a:chOff x="0" y="0"/>
          <a:chExt cx="0" cy="0"/>
        </a:xfrm>
      </p:grpSpPr>
      <p:sp>
        <p:nvSpPr>
          <p:cNvPr id="275" name="Google Shape;275;p66">
            <a:extLst>
              <a:ext uri="{FF2B5EF4-FFF2-40B4-BE49-F238E27FC236}">
                <a16:creationId xmlns:a16="http://schemas.microsoft.com/office/drawing/2014/main" id="{A1C682B5-D4DC-A80B-E56A-6876F23BF75C}"/>
              </a:ext>
            </a:extLst>
          </p:cNvPr>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Load / Validation</a:t>
            </a:r>
            <a:endParaRPr dirty="0"/>
          </a:p>
        </p:txBody>
      </p:sp>
      <p:sp>
        <p:nvSpPr>
          <p:cNvPr id="276" name="Google Shape;276;p66">
            <a:extLst>
              <a:ext uri="{FF2B5EF4-FFF2-40B4-BE49-F238E27FC236}">
                <a16:creationId xmlns:a16="http://schemas.microsoft.com/office/drawing/2014/main" id="{D7AEA3F3-AA2D-50F2-E07A-D133229CB7A2}"/>
              </a:ext>
            </a:extLst>
          </p:cNvPr>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38100" indent="0">
              <a:buNone/>
            </a:pPr>
            <a:r>
              <a:rPr lang="en-US" sz="1800" dirty="0">
                <a:highlight>
                  <a:srgbClr val="FFFFFF"/>
                </a:highlight>
              </a:rPr>
              <a:t>Using Python, create a code block that loads Excel file into memory.</a:t>
            </a:r>
          </a:p>
          <a:p>
            <a:pPr marL="38100" indent="0">
              <a:buNone/>
            </a:pPr>
            <a:r>
              <a:rPr lang="en-US" sz="1800" i="1" dirty="0">
                <a:highlight>
                  <a:srgbClr val="FFFFFF"/>
                </a:highlight>
              </a:rPr>
              <a:t>Hint: Pandas and </a:t>
            </a:r>
            <a:r>
              <a:rPr lang="en-US" sz="1800" i="1" dirty="0" err="1">
                <a:highlight>
                  <a:srgbClr val="FFFFFF"/>
                </a:highlight>
              </a:rPr>
              <a:t>Openpxl</a:t>
            </a:r>
            <a:r>
              <a:rPr lang="en-US" sz="1800" i="1" dirty="0">
                <a:highlight>
                  <a:srgbClr val="FFFFFF"/>
                </a:highlight>
              </a:rPr>
              <a:t> are preloaded in your environment.</a:t>
            </a:r>
          </a:p>
          <a:p>
            <a:pPr marL="38100" indent="0">
              <a:buNone/>
            </a:pPr>
            <a:endParaRPr lang="en-US" sz="1800" i="1" dirty="0">
              <a:highlight>
                <a:srgbClr val="FFFFFF"/>
              </a:highlight>
            </a:endParaRPr>
          </a:p>
          <a:p>
            <a:pPr marL="38100" indent="0">
              <a:buNone/>
            </a:pPr>
            <a:r>
              <a:rPr lang="en-US" sz="1800" dirty="0"/>
              <a:t>Write a validation function that accepts a single row of data and the loaded contract, checks the row against every rule, and returns whether the row passed or failed — and if it failed, why.</a:t>
            </a:r>
          </a:p>
          <a:p>
            <a:pPr marL="38100" indent="0">
              <a:buNone/>
            </a:pPr>
            <a:r>
              <a:rPr lang="en-US" sz="1800" dirty="0"/>
              <a:t> </a:t>
            </a:r>
          </a:p>
          <a:p>
            <a:pPr marL="38100" indent="0">
              <a:buNone/>
            </a:pPr>
            <a:r>
              <a:rPr lang="en-US" sz="1800" dirty="0"/>
              <a:t>After defining the function, loop through every row in your </a:t>
            </a:r>
            <a:r>
              <a:rPr lang="en-US" sz="1800" dirty="0" err="1"/>
              <a:t>DataFrame</a:t>
            </a:r>
            <a:r>
              <a:rPr lang="en-US" sz="1800" dirty="0"/>
              <a:t> and call it. Collect rows that pass into one list and rows that fail into another. At the end, print a summary showing how many rows passed and how many were rejected.</a:t>
            </a:r>
          </a:p>
          <a:p>
            <a:pPr marL="38100" indent="0">
              <a:buNone/>
            </a:pPr>
            <a:endParaRPr lang="en-US" sz="1800" dirty="0"/>
          </a:p>
          <a:p>
            <a:pPr marL="38100" indent="0">
              <a:buNone/>
            </a:pPr>
            <a:r>
              <a:rPr lang="en-US" sz="1800" dirty="0"/>
              <a:t>Only load records that pass validation.</a:t>
            </a:r>
          </a:p>
          <a:p>
            <a:pPr marL="38100" indent="0">
              <a:buNone/>
            </a:pPr>
            <a:r>
              <a:rPr lang="en-US" sz="1800" b="1" dirty="0"/>
              <a:t>Validation rules to implement</a:t>
            </a:r>
            <a:endParaRPr lang="en-US" sz="1800" dirty="0"/>
          </a:p>
          <a:p>
            <a:pPr marL="38100" indent="0">
              <a:buNone/>
            </a:pPr>
            <a:r>
              <a:rPr lang="en-US" sz="1800" dirty="0"/>
              <a:t>Your function must check each of the following for every column in the contract:</a:t>
            </a:r>
          </a:p>
          <a:p>
            <a:pPr lvl="0"/>
            <a:r>
              <a:rPr lang="en-US" sz="1800" dirty="0"/>
              <a:t>Required check — if required is true, the value must not be null, empty, or blank</a:t>
            </a:r>
          </a:p>
          <a:p>
            <a:pPr lvl="0"/>
            <a:r>
              <a:rPr lang="en-US" sz="1800" dirty="0"/>
              <a:t>Max length check — for string columns, the value must not exceed </a:t>
            </a:r>
            <a:r>
              <a:rPr lang="en-US" sz="1800" dirty="0" err="1"/>
              <a:t>max_length</a:t>
            </a:r>
            <a:r>
              <a:rPr lang="en-US" sz="1800" dirty="0"/>
              <a:t> characters</a:t>
            </a:r>
          </a:p>
          <a:p>
            <a:pPr lvl="0"/>
            <a:r>
              <a:rPr lang="en-US" sz="1800" dirty="0"/>
              <a:t>Date check — for date columns, the value must be </a:t>
            </a:r>
            <a:r>
              <a:rPr lang="en-US" sz="1800" dirty="0" err="1"/>
              <a:t>parseable</a:t>
            </a:r>
            <a:r>
              <a:rPr lang="en-US" sz="1800" dirty="0"/>
              <a:t> as a valid date</a:t>
            </a:r>
          </a:p>
          <a:p>
            <a:pPr marL="38100" indent="0">
              <a:buNone/>
            </a:pPr>
            <a:endParaRPr lang="en-US" sz="1800" i="1" dirty="0">
              <a:highlight>
                <a:srgbClr val="FFFFFF"/>
              </a:highlight>
            </a:endParaRPr>
          </a:p>
          <a:p>
            <a:pPr marL="38100" indent="0">
              <a:buNone/>
            </a:pPr>
            <a:endParaRPr lang="en-US" sz="1800" dirty="0">
              <a:highlight>
                <a:srgbClr val="FFFFFF"/>
              </a:highlight>
            </a:endParaRPr>
          </a:p>
          <a:p>
            <a:pPr marL="38100" indent="0">
              <a:buNone/>
            </a:pPr>
            <a:endParaRPr lang="en-US" sz="1800" dirty="0">
              <a:highlight>
                <a:srgbClr val="FFFFFF"/>
              </a:highlight>
            </a:endParaRPr>
          </a:p>
        </p:txBody>
      </p:sp>
    </p:spTree>
    <p:extLst>
      <p:ext uri="{BB962C8B-B14F-4D97-AF65-F5344CB8AC3E}">
        <p14:creationId xmlns:p14="http://schemas.microsoft.com/office/powerpoint/2010/main" val="2925361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26B8181-095F-B027-BA58-B0089C8BE6EE}"/>
            </a:ext>
          </a:extLst>
        </p:cNvPr>
        <p:cNvGrpSpPr/>
        <p:nvPr/>
      </p:nvGrpSpPr>
      <p:grpSpPr>
        <a:xfrm>
          <a:off x="0" y="0"/>
          <a:ext cx="0" cy="0"/>
          <a:chOff x="0" y="0"/>
          <a:chExt cx="0" cy="0"/>
        </a:xfrm>
      </p:grpSpPr>
      <p:sp>
        <p:nvSpPr>
          <p:cNvPr id="275" name="Google Shape;275;p66">
            <a:extLst>
              <a:ext uri="{FF2B5EF4-FFF2-40B4-BE49-F238E27FC236}">
                <a16:creationId xmlns:a16="http://schemas.microsoft.com/office/drawing/2014/main" id="{C1E7C8B3-E65C-9E35-A945-AE3FEB42CEBA}"/>
              </a:ext>
            </a:extLst>
          </p:cNvPr>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Connect to AWS</a:t>
            </a:r>
            <a:endParaRPr dirty="0"/>
          </a:p>
        </p:txBody>
      </p:sp>
      <p:sp>
        <p:nvSpPr>
          <p:cNvPr id="276" name="Google Shape;276;p66">
            <a:extLst>
              <a:ext uri="{FF2B5EF4-FFF2-40B4-BE49-F238E27FC236}">
                <a16:creationId xmlns:a16="http://schemas.microsoft.com/office/drawing/2014/main" id="{AF2DC797-9223-19C9-3931-4082AA55FCC9}"/>
              </a:ext>
            </a:extLst>
          </p:cNvPr>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38100" indent="0">
              <a:buNone/>
            </a:pPr>
            <a:r>
              <a:rPr lang="en-US" sz="1800" dirty="0">
                <a:highlight>
                  <a:srgbClr val="FFFFFF"/>
                </a:highlight>
              </a:rPr>
              <a:t>The Solution notebook comes prepopulated with the code needed to connect to your AWS database. </a:t>
            </a:r>
          </a:p>
          <a:p>
            <a:pPr marL="38100" indent="0">
              <a:buNone/>
            </a:pPr>
            <a:endParaRPr lang="en-US" sz="1800" dirty="0">
              <a:highlight>
                <a:srgbClr val="FFFFFF"/>
              </a:highlight>
            </a:endParaRPr>
          </a:p>
          <a:p>
            <a:pPr marL="38100" indent="0">
              <a:buNone/>
            </a:pPr>
            <a:r>
              <a:rPr lang="en-US" sz="1800" dirty="0">
                <a:highlight>
                  <a:srgbClr val="FFFFFF"/>
                </a:highlight>
              </a:rPr>
              <a:t>Remember to go to the Cloud Resource tab to obtain your credentials.</a:t>
            </a:r>
          </a:p>
          <a:p>
            <a:pPr marL="38100" indent="0">
              <a:buNone/>
            </a:pPr>
            <a:endParaRPr lang="en-US" sz="1800" dirty="0">
              <a:highlight>
                <a:srgbClr val="FFFFFF"/>
              </a:highlight>
            </a:endParaRPr>
          </a:p>
          <a:p>
            <a:pPr marL="38100" indent="0">
              <a:buNone/>
            </a:pPr>
            <a:r>
              <a:rPr lang="en-US" sz="1800" dirty="0">
                <a:highlight>
                  <a:srgbClr val="FFFFFF"/>
                </a:highlight>
              </a:rPr>
              <a:t>Once connected, build a landing table in your database that can accept the validated records loaded from the Excel file.</a:t>
            </a:r>
          </a:p>
          <a:p>
            <a:pPr marL="38100" indent="0">
              <a:buNone/>
            </a:pPr>
            <a:endParaRPr lang="en-US" sz="1800" dirty="0">
              <a:highlight>
                <a:srgbClr val="FFFFFF"/>
              </a:highlight>
            </a:endParaRPr>
          </a:p>
          <a:p>
            <a:pPr marL="38100" indent="0">
              <a:buNone/>
            </a:pPr>
            <a:r>
              <a:rPr lang="en-US" sz="1800" dirty="0">
                <a:highlight>
                  <a:srgbClr val="FFFFFF"/>
                </a:highlight>
              </a:rPr>
              <a:t>Insert Excel data into the table.</a:t>
            </a:r>
          </a:p>
          <a:p>
            <a:pPr marL="38100" indent="0">
              <a:buNone/>
            </a:pPr>
            <a:endParaRPr lang="en-US" sz="1800" dirty="0">
              <a:highlight>
                <a:srgbClr val="FFFFFF"/>
              </a:highlight>
            </a:endParaRPr>
          </a:p>
          <a:p>
            <a:pPr marL="38100" indent="0">
              <a:buNone/>
            </a:pPr>
            <a:r>
              <a:rPr lang="en-US" sz="1800" dirty="0">
                <a:highlight>
                  <a:srgbClr val="FFFFFF"/>
                </a:highlight>
              </a:rPr>
              <a:t>ONLY INSERT VALIDATED RECORDS INTO THE TABLE.</a:t>
            </a:r>
          </a:p>
        </p:txBody>
      </p:sp>
    </p:spTree>
    <p:extLst>
      <p:ext uri="{BB962C8B-B14F-4D97-AF65-F5344CB8AC3E}">
        <p14:creationId xmlns:p14="http://schemas.microsoft.com/office/powerpoint/2010/main" val="3499847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dirty="0">
                <a:solidFill>
                  <a:srgbClr val="FFFFFF"/>
                </a:solidFill>
                <a:latin typeface="Open Sans"/>
                <a:ea typeface="Open Sans"/>
                <a:cs typeface="Open Sans"/>
                <a:sym typeface="Open Sans"/>
              </a:rPr>
              <a:t>Step 4</a:t>
            </a:r>
            <a:endParaRPr sz="3000" b="1" dirty="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dirty="0">
                <a:solidFill>
                  <a:srgbClr val="FFFFFF"/>
                </a:solidFill>
                <a:latin typeface="Open Sans"/>
                <a:ea typeface="Open Sans"/>
                <a:cs typeface="Open Sans"/>
                <a:sym typeface="Open Sans"/>
              </a:rPr>
              <a:t>Create A Physical Database</a:t>
            </a:r>
            <a:endParaRPr sz="3000" dirty="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D1A78AB-5197-0AB0-451F-B40CF07755F3}"/>
            </a:ext>
          </a:extLst>
        </p:cNvPr>
        <p:cNvGrpSpPr/>
        <p:nvPr/>
      </p:nvGrpSpPr>
      <p:grpSpPr>
        <a:xfrm>
          <a:off x="0" y="0"/>
          <a:ext cx="0" cy="0"/>
          <a:chOff x="0" y="0"/>
          <a:chExt cx="0" cy="0"/>
        </a:xfrm>
      </p:grpSpPr>
      <p:sp>
        <p:nvSpPr>
          <p:cNvPr id="275" name="Google Shape;275;p66">
            <a:extLst>
              <a:ext uri="{FF2B5EF4-FFF2-40B4-BE49-F238E27FC236}">
                <a16:creationId xmlns:a16="http://schemas.microsoft.com/office/drawing/2014/main" id="{10B4D3A6-CDF3-60C5-0883-B449BF5F590B}"/>
              </a:ext>
            </a:extLst>
          </p:cNvPr>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Step 4: Create A Physical Database</a:t>
            </a:r>
            <a:endParaRPr dirty="0"/>
          </a:p>
        </p:txBody>
      </p:sp>
      <p:sp>
        <p:nvSpPr>
          <p:cNvPr id="276" name="Google Shape;276;p66">
            <a:extLst>
              <a:ext uri="{FF2B5EF4-FFF2-40B4-BE49-F238E27FC236}">
                <a16:creationId xmlns:a16="http://schemas.microsoft.com/office/drawing/2014/main" id="{E2CC626D-543C-CE47-A2A5-07F2137DAB80}"/>
              </a:ext>
            </a:extLst>
          </p:cNvPr>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In this step, you will be turning your database model into a physical database.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110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You will:</a:t>
            </a:r>
            <a:endParaRPr sz="1550" b="1"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110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Create the database using SQL DDL commands</a:t>
            </a:r>
            <a:endParaRPr sz="1550"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0"/>
              </a:spcBef>
              <a:spcAft>
                <a:spcPts val="0"/>
              </a:spcAft>
              <a:buClr>
                <a:srgbClr val="525C65"/>
              </a:buClr>
              <a:buSzPts val="1550"/>
              <a:buFont typeface="Open Sans"/>
              <a:buChar char="●"/>
            </a:pPr>
            <a:r>
              <a:rPr lang="en-US" sz="1550" dirty="0">
                <a:solidFill>
                  <a:srgbClr val="525C65"/>
                </a:solidFill>
                <a:highlight>
                  <a:srgbClr val="FFFFFF"/>
                </a:highlight>
                <a:latin typeface="Open Sans"/>
                <a:ea typeface="Open Sans"/>
                <a:cs typeface="Open Sans"/>
                <a:sym typeface="Open Sans"/>
              </a:rPr>
              <a:t>Populate tables from Landing Table created in Step 4</a:t>
            </a:r>
            <a:endParaRPr sz="1550"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Answer a series of questions using CRUD SQL commands to demonstrate your database was created and populated correctly</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b="1" dirty="0">
              <a:solidFill>
                <a:srgbClr val="525C65"/>
              </a:solidFill>
              <a:highlight>
                <a:srgbClr val="FFFFFF"/>
              </a:highlight>
              <a:latin typeface="Open Sans"/>
              <a:ea typeface="Open Sans"/>
              <a:cs typeface="Open Sans"/>
              <a:sym typeface="Open Sans"/>
            </a:endParaRPr>
          </a:p>
          <a:p>
            <a:pPr marL="0" lvl="0" indent="0" algn="l" rtl="0">
              <a:spcBef>
                <a:spcPts val="0"/>
              </a:spcBef>
              <a:spcAft>
                <a:spcPts val="1600"/>
              </a:spcAft>
              <a:buNone/>
            </a:pPr>
            <a:endParaRPr sz="2200" dirty="0">
              <a:solidFill>
                <a:srgbClr val="525C65"/>
              </a:solidFill>
            </a:endParaRPr>
          </a:p>
        </p:txBody>
      </p:sp>
    </p:spTree>
    <p:extLst>
      <p:ext uri="{BB962C8B-B14F-4D97-AF65-F5344CB8AC3E}">
        <p14:creationId xmlns:p14="http://schemas.microsoft.com/office/powerpoint/2010/main" val="3972584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DDL / DML</a:t>
            </a:r>
            <a:endParaRPr dirty="0"/>
          </a:p>
        </p:txBody>
      </p:sp>
      <p:sp>
        <p:nvSpPr>
          <p:cNvPr id="282" name="Google Shape;282;p67"/>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Create a Python DDL SQL script capable of building the database you designed in Step 2</a:t>
            </a:r>
          </a:p>
          <a:p>
            <a:pPr marL="0" lvl="0" indent="0" algn="l" rtl="0">
              <a:spcBef>
                <a:spcPts val="0"/>
              </a:spcBef>
              <a:spcAft>
                <a:spcPts val="0"/>
              </a:spcAft>
              <a:buNone/>
            </a:pPr>
            <a:endParaRPr lang="en" sz="1900" dirty="0"/>
          </a:p>
          <a:p>
            <a:pPr marL="0" lvl="0" indent="0" algn="l" rtl="0">
              <a:spcBef>
                <a:spcPts val="0"/>
              </a:spcBef>
              <a:spcAft>
                <a:spcPts val="0"/>
              </a:spcAft>
              <a:buNone/>
            </a:pPr>
            <a:r>
              <a:rPr lang="en-US" sz="1900" dirty="0"/>
              <a:t>Build all tables you designed in step 2, make sure to including Primary and Foreign Keys.</a:t>
            </a:r>
          </a:p>
          <a:p>
            <a:pPr marL="0" lvl="0" indent="0" algn="l" rtl="0">
              <a:spcBef>
                <a:spcPts val="0"/>
              </a:spcBef>
              <a:spcAft>
                <a:spcPts val="0"/>
              </a:spcAft>
              <a:buNone/>
            </a:pPr>
            <a:endParaRPr lang="en-US" sz="1900" dirty="0"/>
          </a:p>
          <a:p>
            <a:pPr marL="0" lvl="0" indent="0" algn="l" rtl="0">
              <a:spcBef>
                <a:spcPts val="0"/>
              </a:spcBef>
              <a:spcAft>
                <a:spcPts val="0"/>
              </a:spcAft>
              <a:buNone/>
            </a:pPr>
            <a:r>
              <a:rPr lang="en-US" sz="1900" dirty="0"/>
              <a:t>Once the tables are built, use SQL scripting (via Python) to populate the tables with the data you stored in your landing table.</a:t>
            </a: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6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289" name="Google Shape;289;p68"/>
          <p:cNvSpPr txBox="1">
            <a:spLocks noGrp="1"/>
          </p:cNvSpPr>
          <p:nvPr>
            <p:ph type="body" idx="1"/>
          </p:nvPr>
        </p:nvSpPr>
        <p:spPr>
          <a:xfrm>
            <a:off x="264950" y="21568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107950" lvl="0" indent="0" algn="l" rtl="0">
              <a:spcBef>
                <a:spcPts val="1600"/>
              </a:spcBef>
              <a:spcAft>
                <a:spcPts val="0"/>
              </a:spcAft>
              <a:buSzPts val="1900"/>
              <a:buNone/>
            </a:pPr>
            <a:r>
              <a:rPr lang="en" sz="1900" b="1" dirty="0">
                <a:latin typeface="Open Sans"/>
                <a:ea typeface="Open Sans"/>
                <a:cs typeface="Open Sans"/>
                <a:sym typeface="Open Sans"/>
              </a:rPr>
              <a:t>Question 1: Return a list of employees with Job Titles and Department Names</a:t>
            </a:r>
          </a:p>
          <a:p>
            <a:pPr marL="107950" lvl="0" indent="0" algn="l" rtl="0">
              <a:spcBef>
                <a:spcPts val="1600"/>
              </a:spcBef>
              <a:spcAft>
                <a:spcPts val="0"/>
              </a:spcAft>
              <a:buSzPts val="1900"/>
              <a:buNone/>
            </a:pPr>
            <a:r>
              <a:rPr lang="en-US" sz="1900" b="1" dirty="0">
                <a:latin typeface="Open Sans"/>
                <a:ea typeface="Open Sans"/>
                <a:cs typeface="Open Sans"/>
                <a:sym typeface="Open Sans"/>
              </a:rPr>
              <a:t>Question 2: Insert Web Programmer as a new job title</a:t>
            </a:r>
          </a:p>
          <a:p>
            <a:pPr marL="107950" lvl="0" indent="0" algn="l" rtl="0">
              <a:spcBef>
                <a:spcPts val="1600"/>
              </a:spcBef>
              <a:spcAft>
                <a:spcPts val="0"/>
              </a:spcAft>
              <a:buSzPts val="1900"/>
              <a:buNone/>
            </a:pPr>
            <a:r>
              <a:rPr lang="en-US" sz="1900" b="1" dirty="0">
                <a:latin typeface="Open Sans"/>
                <a:ea typeface="Open Sans"/>
                <a:cs typeface="Open Sans"/>
                <a:sym typeface="Open Sans"/>
              </a:rPr>
              <a:t>Question 3: Correct the job title from web programmer to web developer</a:t>
            </a:r>
          </a:p>
          <a:p>
            <a:pPr marL="107950" indent="0">
              <a:spcBef>
                <a:spcPts val="1600"/>
              </a:spcBef>
              <a:buSzPts val="1900"/>
              <a:buNone/>
            </a:pPr>
            <a:r>
              <a:rPr lang="en-US" sz="1900" b="1" dirty="0">
                <a:latin typeface="Open Sans"/>
                <a:ea typeface="Open Sans"/>
                <a:cs typeface="Open Sans"/>
                <a:sym typeface="Open Sans"/>
              </a:rPr>
              <a:t>Question 4: Delete the job title Web Developer from the database</a:t>
            </a:r>
          </a:p>
          <a:p>
            <a:pPr marL="107950" indent="0">
              <a:spcBef>
                <a:spcPts val="1600"/>
              </a:spcBef>
              <a:buSzPts val="1900"/>
              <a:buNone/>
            </a:pPr>
            <a:r>
              <a:rPr lang="en-US" sz="1900" b="1" dirty="0">
                <a:latin typeface="Open Sans"/>
                <a:ea typeface="Open Sans"/>
                <a:cs typeface="Open Sans"/>
                <a:sym typeface="Open Sans"/>
              </a:rPr>
              <a:t>Question 5: How many employees are in each department?</a:t>
            </a:r>
          </a:p>
          <a:p>
            <a:pPr marL="107950" lvl="0" indent="0">
              <a:spcBef>
                <a:spcPts val="1600"/>
              </a:spcBef>
              <a:buSzPts val="1900"/>
              <a:buNone/>
            </a:pPr>
            <a:r>
              <a:rPr lang="en-US" sz="1900" b="1" dirty="0">
                <a:latin typeface="Open Sans"/>
                <a:ea typeface="Open Sans"/>
                <a:cs typeface="Open Sans"/>
                <a:sym typeface="Open Sans"/>
              </a:rPr>
              <a:t>Question 6: Write a query that returns current and past jobs (include employee name, job title, department, manager name, start and end date for position) for employee Toni Lembeck.</a:t>
            </a:r>
          </a:p>
          <a:p>
            <a:pPr marL="107950" indent="0">
              <a:spcBef>
                <a:spcPts val="1600"/>
              </a:spcBef>
              <a:buSzPts val="1900"/>
              <a:buNone/>
            </a:pPr>
            <a:r>
              <a:rPr lang="en-US" sz="1900" b="1" dirty="0">
                <a:latin typeface="Open Sans"/>
                <a:ea typeface="Open Sans"/>
                <a:cs typeface="Open Sans"/>
                <a:sym typeface="Open Sans"/>
              </a:rPr>
              <a:t>Question 7: Describe how you would apply table security to restrict access to employee salaries using an SQL server.</a:t>
            </a:r>
          </a:p>
          <a:p>
            <a:pPr marL="107950" lvl="0" indent="0">
              <a:spcBef>
                <a:spcPts val="1600"/>
              </a:spcBef>
              <a:buSzPts val="1900"/>
              <a:buNone/>
            </a:pPr>
            <a:endParaRPr sz="1900" dirty="0"/>
          </a:p>
          <a:p>
            <a:pPr marL="457200" lvl="0" indent="0" algn="l" rtl="0">
              <a:spcBef>
                <a:spcPts val="1600"/>
              </a:spcBef>
              <a:spcAft>
                <a:spcPts val="1600"/>
              </a:spcAft>
              <a:buNone/>
            </a:pPr>
            <a:endParaRPr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35"/>
        <p:cNvGrpSpPr/>
        <p:nvPr/>
      </p:nvGrpSpPr>
      <p:grpSpPr>
        <a:xfrm>
          <a:off x="0" y="0"/>
          <a:ext cx="0" cy="0"/>
          <a:chOff x="0" y="0"/>
          <a:chExt cx="0" cy="0"/>
        </a:xfrm>
      </p:grpSpPr>
      <p:sp>
        <p:nvSpPr>
          <p:cNvPr id="336" name="Google Shape;336;p75"/>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Above and Beyond (optional)</a:t>
            </a:r>
            <a:endParaRPr sz="3000">
              <a:solidFill>
                <a:srgbClr val="FFFFFF"/>
              </a:solidFill>
              <a:latin typeface="Open Sans"/>
              <a:ea typeface="Open Sans"/>
              <a:cs typeface="Open Sans"/>
              <a:sym typeface="Open Sans"/>
            </a:endParaRPr>
          </a:p>
        </p:txBody>
      </p:sp>
      <p:sp>
        <p:nvSpPr>
          <p:cNvPr id="337" name="Google Shape;337;p7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7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4: Above and Beyond</a:t>
            </a:r>
            <a:endParaRPr/>
          </a:p>
        </p:txBody>
      </p:sp>
      <p:sp>
        <p:nvSpPr>
          <p:cNvPr id="343" name="Google Shape;343;p76"/>
          <p:cNvSpPr txBox="1">
            <a:spLocks noGrp="1"/>
          </p:cNvSpPr>
          <p:nvPr>
            <p:ph type="body" idx="1"/>
          </p:nvPr>
        </p:nvSpPr>
        <p:spPr>
          <a:xfrm>
            <a:off x="264945" y="2025129"/>
            <a:ext cx="7242600" cy="62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200"/>
              <a:t>This last step is called Above and Beyond. In this step, I have proposed 3 challenges for you to complete, which are above and beyond the scope of the project. This is a chance to flex your coding muscles and show everyone how good you really are.</a:t>
            </a:r>
            <a:endParaRPr sz="2200"/>
          </a:p>
          <a:p>
            <a:pPr marL="0" lvl="0" indent="0" algn="l" rtl="0">
              <a:spcBef>
                <a:spcPts val="1600"/>
              </a:spcBef>
              <a:spcAft>
                <a:spcPts val="0"/>
              </a:spcAft>
              <a:buClr>
                <a:schemeClr val="dk1"/>
              </a:buClr>
              <a:buSzPts val="1100"/>
              <a:buFont typeface="Arial"/>
              <a:buNone/>
            </a:pPr>
            <a:r>
              <a:rPr lang="en" sz="2200"/>
              <a:t>These challenge steps will bring your project even more in line with a real-world project, as these are the kind of “finishing touches” that will make your database more usable. Imagine building a car without air conditioning or turn signals. Sure, it will work, but who would want to drive it.</a:t>
            </a:r>
            <a:endParaRPr sz="2200"/>
          </a:p>
          <a:p>
            <a:pPr marL="0" lvl="0" indent="0" algn="l" rtl="0">
              <a:spcBef>
                <a:spcPts val="1600"/>
              </a:spcBef>
              <a:spcAft>
                <a:spcPts val="0"/>
              </a:spcAft>
              <a:buClr>
                <a:schemeClr val="dk1"/>
              </a:buClr>
              <a:buSzPts val="1100"/>
              <a:buFont typeface="Arial"/>
              <a:buNone/>
            </a:pPr>
            <a:r>
              <a:rPr lang="en" sz="2200"/>
              <a:t>I encourage you to take on these challenges in this course and any future courses you take. I designed these challenges to be a challenge to your current abilities, but I ensured they are not an unattainable challenge. Remember, these challenges are completely optional - you can pass the project by doing none of them, or just some of them, but I encourage you to at least attempt them!</a:t>
            </a:r>
            <a:endParaRPr sz="2200"/>
          </a:p>
          <a:p>
            <a:pPr marL="0" lvl="0" indent="0" algn="l" rtl="0">
              <a:spcBef>
                <a:spcPts val="1600"/>
              </a:spcBef>
              <a:spcAft>
                <a:spcPts val="1600"/>
              </a:spcAft>
              <a:buNone/>
            </a:pPr>
            <a:endParaRPr sz="22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2442</Words>
  <Application>Microsoft Office PowerPoint</Application>
  <PresentationFormat>Custom</PresentationFormat>
  <Paragraphs>186</Paragraphs>
  <Slides>24</Slides>
  <Notes>24</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24</vt:i4>
      </vt:variant>
    </vt:vector>
  </HeadingPairs>
  <TitlesOfParts>
    <vt:vector size="32" baseType="lpstr">
      <vt:lpstr>Arial</vt:lpstr>
      <vt:lpstr>Helvetica Neue</vt:lpstr>
      <vt:lpstr>Open Sans Light</vt:lpstr>
      <vt:lpstr>Open Sans</vt:lpstr>
      <vt:lpstr>Simple Light</vt:lpstr>
      <vt:lpstr>Simple Light</vt:lpstr>
      <vt:lpstr>Simple Light</vt:lpstr>
      <vt:lpstr>White</vt:lpstr>
      <vt:lpstr>Tech ABC Corp - HR Database </vt:lpstr>
      <vt:lpstr>How to use this Template</vt:lpstr>
      <vt:lpstr>Business Scenario</vt:lpstr>
      <vt:lpstr>PowerPoint Presentation</vt:lpstr>
      <vt:lpstr>Step 1: Data Architecture Foundations</vt:lpstr>
      <vt:lpstr>Data Architect Business Requirement</vt:lpstr>
      <vt:lpstr>Data Architect Business Requirement</vt:lpstr>
      <vt:lpstr>Data Architect Technical Requirement</vt:lpstr>
      <vt:lpstr>PowerPoint Presentation</vt:lpstr>
      <vt:lpstr>Step 2: Relational Database Design</vt:lpstr>
      <vt:lpstr>ERD</vt:lpstr>
      <vt:lpstr>ERD</vt:lpstr>
      <vt:lpstr>ERD</vt:lpstr>
      <vt:lpstr>PowerPoint Presentation</vt:lpstr>
      <vt:lpstr>Step 3: ETL Process/Data Contract</vt:lpstr>
      <vt:lpstr>JSON</vt:lpstr>
      <vt:lpstr>Data Load / Validation</vt:lpstr>
      <vt:lpstr>Connect to AWS</vt:lpstr>
      <vt:lpstr>PowerPoint Presentation</vt:lpstr>
      <vt:lpstr>Step 4: Create A Physical Database</vt:lpstr>
      <vt:lpstr>DDL / DML</vt:lpstr>
      <vt:lpstr>CRUD</vt:lpstr>
      <vt:lpstr>PowerPoint Presentation</vt:lpstr>
      <vt:lpstr>Step 4: Above and Beyond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Benjamin Larson</cp:lastModifiedBy>
  <cp:revision>1</cp:revision>
  <dcterms:modified xsi:type="dcterms:W3CDTF">2026-05-19T16:33:55Z</dcterms:modified>
</cp:coreProperties>
</file>